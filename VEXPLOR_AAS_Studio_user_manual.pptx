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df7b5bfb-b47a-e64a-c8e1-035443a17b54}">
          <p14:sldIdLst>
            <p14:sldId id="256"/>
          </p14:sldIdLst>
        </p14:section>
        <p14:section name="차례" id="{2bb05234-9e61-9c46-6578-6892a1b963ab}">
          <p14:sldIdLst>
            <p14:sldId id="257"/>
          </p14:sldIdLst>
        </p14:section>
        <p14:section name="소개" id="{fc5ed34e-214d-79bf-6f71-e83cb223234e}">
          <p14:sldIdLst>
            <p14:sldId id="258"/>
            <p14:sldId id="259"/>
          </p14:sldIdLst>
        </p14:section>
        <p14:section name="시작하기" id="{ff97b2a6-6019-9d36-c02e-0312f9b1ac05}">
          <p14:sldIdLst>
            <p14:sldId id="260"/>
            <p14:sldId id="261"/>
            <p14:sldId id="262"/>
            <p14:sldId id="263"/>
          </p14:sldIdLst>
        </p14:section>
        <p14:section name="화면 둘러보기" id="{46d95589-4c12-a538-8db3-22a1a7ab8491}">
          <p14:sldIdLst>
            <p14:sldId id="264"/>
            <p14:sldId id="265"/>
            <p14:sldId id="266"/>
            <p14:sldId id="267"/>
          </p14:sldIdLst>
        </p14:section>
        <p14:section name="파일 열기" id="{8ae0b903-56bc-1457-9583-22720024703f}">
          <p14:sldIdLst>
            <p14:sldId id="268"/>
            <p14:sldId id="269"/>
            <p14:sldId id="270"/>
            <p14:sldId id="271"/>
          </p14:sldIdLst>
        </p14:section>
        <p14:section name="만들고 고치기" id="{0e294755-42b6-3d2e-baf8-fa349b0c0072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검사와 자동 고치기" id="{2a2cc529-7601-83a0-0ef0-9474b3c27c93}">
          <p14:sldIdLst>
            <p14:sldId id="278"/>
            <p14:sldId id="279"/>
            <p14:sldId id="280"/>
          </p14:sldIdLst>
        </p14:section>
        <p14:section name="내보내기" id="{6908f703-c928-8940-f40c-648654f9ce0a}">
          <p14:sldIdLst>
            <p14:sldId id="281"/>
            <p14:sldId id="282"/>
            <p14:sldId id="283"/>
          </p14:sldIdLst>
        </p14:section>
        <p14:section name="공정과 레퍼런스 번들" id="{527558d5-31b1-aae5-b786-d8f933b2f13a}">
          <p14:sldIdLst>
            <p14:sldId id="284"/>
            <p14:sldId id="285"/>
            <p14:sldId id="286"/>
          </p14:sldIdLst>
        </p14:section>
        <p14:section name="현장 값 수집과 제공" id="{65f5d439-5e58-37d4-f266-f2c15c80ed4a}">
          <p14:sldIdLst>
            <p14:sldId id="287"/>
            <p14:sldId id="288"/>
            <p14:sldId id="289"/>
          </p14:sldIdLst>
        </p14:section>
        <p14:section name="내 계정과 설정" id="{bc426c36-be01-3eea-72c0-da3d8cf366b4}">
          <p14:sldIdLst>
            <p14:sldId id="290"/>
            <p14:sldId id="291"/>
            <p14:sldId id="292"/>
            <p14:sldId id="293"/>
          </p14:sldIdLst>
        </p14:section>
        <p14:section name="마무리" id="{ecfec13a-e237-8df8-38e9-fdabc534e0cc}">
          <p14:sldIdLst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F1B2D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548640" y="6382512"/>
            <a:ext cx="11091672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 AAS Studio  ·  사용자 매뉴얼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2"/>
          <p:cNvSpPr txBox="1"/>
          <p:nvPr/>
        </p:nvSpPr>
        <p:spPr>
          <a:xfrm>
            <a:off x="731520" y="182880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Studio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매뉴얼</a:t>
            </a:r>
            <a:endParaRPr lang="en-US" sz="3800" dirty="0"/>
          </a:p>
        </p:txBody>
      </p:sp>
      <p:sp>
        <p:nvSpPr>
          <p:cNvPr id="5" name="t-3"/>
          <p:cNvSpPr txBox="1"/>
          <p:nvPr/>
        </p:nvSpPr>
        <p:spPr>
          <a:xfrm>
            <a:off x="731520" y="3383280"/>
            <a:ext cx="5852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쓰는 분을 위한 따라 하기 안내서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로그인부터 검사 · 자동 고치기 · 내려받기까지</a:t>
            </a:r>
            <a:endParaRPr lang="en-US" sz="1700" dirty="0"/>
          </a:p>
        </p:txBody>
      </p:sp>
      <p:sp>
        <p:nvSpPr>
          <p:cNvPr id="6" name="t-4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v1.1.0  ·  2026년 10월  ·  WACE</a:t>
            </a:r>
            <a:endParaRPr lang="en-US" sz="1200" dirty="0"/>
          </a:p>
        </p:txBody>
      </p:sp>
      <p:pic>
        <p:nvPicPr>
          <p:cNvPr id="7" name="Image 0" descr="프로그램 화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988820"/>
            <a:ext cx="5120640" cy="28803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4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차례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차례</a:t>
            </a:r>
            <a:endParaRPr lang="en-US" sz="2600" dirty="0"/>
          </a:p>
        </p:txBody>
      </p:sp>
      <p:sp>
        <p:nvSpPr>
          <p:cNvPr id="5" name="t-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 1 → 3 → 5장 순서로 읽으면 바로 쓸 수 있습니다</a:t>
            </a:r>
            <a:endParaRPr lang="en-US" sz="1400" dirty="0"/>
          </a:p>
        </p:txBody>
      </p:sp>
      <p:sp>
        <p:nvSpPr>
          <p:cNvPr id="6" name="t-8"/>
          <p:cNvSpPr txBox="1"/>
          <p:nvPr/>
        </p:nvSpPr>
        <p:spPr>
          <a:xfrm>
            <a:off x="54864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-9"/>
          <p:cNvSpPr txBox="1"/>
          <p:nvPr/>
        </p:nvSpPr>
        <p:spPr>
          <a:xfrm>
            <a:off x="132588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체험 계정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9" name="t-10"/>
          <p:cNvSpPr txBox="1"/>
          <p:nvPr/>
        </p:nvSpPr>
        <p:spPr>
          <a:xfrm>
            <a:off x="54864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0" name="t-11"/>
          <p:cNvSpPr txBox="1"/>
          <p:nvPr/>
        </p:nvSpPr>
        <p:spPr>
          <a:xfrm>
            <a:off x="132588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2" name="t-12"/>
          <p:cNvSpPr txBox="1"/>
          <p:nvPr/>
        </p:nvSpPr>
        <p:spPr>
          <a:xfrm>
            <a:off x="54864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3" name="t-13"/>
          <p:cNvSpPr txBox="1"/>
          <p:nvPr/>
        </p:nvSpPr>
        <p:spPr>
          <a:xfrm>
            <a:off x="132588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5" name="t-14"/>
          <p:cNvSpPr txBox="1"/>
          <p:nvPr/>
        </p:nvSpPr>
        <p:spPr>
          <a:xfrm>
            <a:off x="54864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16" name="t-15"/>
          <p:cNvSpPr txBox="1"/>
          <p:nvPr/>
        </p:nvSpPr>
        <p:spPr>
          <a:xfrm>
            <a:off x="132588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18" name="t-16"/>
          <p:cNvSpPr txBox="1"/>
          <p:nvPr/>
        </p:nvSpPr>
        <p:spPr>
          <a:xfrm>
            <a:off x="548640" y="51480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400" dirty="0"/>
          </a:p>
        </p:txBody>
      </p:sp>
      <p:sp>
        <p:nvSpPr>
          <p:cNvPr id="19" name="t-17"/>
          <p:cNvSpPr txBox="1"/>
          <p:nvPr/>
        </p:nvSpPr>
        <p:spPr>
          <a:xfrm>
            <a:off x="1325880" y="5129784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5879592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1" name="t-18"/>
          <p:cNvSpPr txBox="1"/>
          <p:nvPr/>
        </p:nvSpPr>
        <p:spPr>
          <a:xfrm>
            <a:off x="6217920" y="17830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400" dirty="0"/>
          </a:p>
        </p:txBody>
      </p:sp>
      <p:sp>
        <p:nvSpPr>
          <p:cNvPr id="22" name="t-19"/>
          <p:cNvSpPr txBox="1"/>
          <p:nvPr/>
        </p:nvSpPr>
        <p:spPr>
          <a:xfrm>
            <a:off x="6995160" y="1764792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2514600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4" name="t-20"/>
          <p:cNvSpPr txBox="1"/>
          <p:nvPr/>
        </p:nvSpPr>
        <p:spPr>
          <a:xfrm>
            <a:off x="6217920" y="262432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400" dirty="0"/>
          </a:p>
        </p:txBody>
      </p:sp>
      <p:sp>
        <p:nvSpPr>
          <p:cNvPr id="25" name="t-21"/>
          <p:cNvSpPr txBox="1"/>
          <p:nvPr/>
        </p:nvSpPr>
        <p:spPr>
          <a:xfrm>
            <a:off x="6995160" y="260604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ZIP 묶음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3355848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7" name="t-22"/>
          <p:cNvSpPr txBox="1"/>
          <p:nvPr/>
        </p:nvSpPr>
        <p:spPr>
          <a:xfrm>
            <a:off x="6217920" y="3465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400" dirty="0"/>
          </a:p>
        </p:txBody>
      </p:sp>
      <p:sp>
        <p:nvSpPr>
          <p:cNvPr id="28" name="t-23"/>
          <p:cNvSpPr txBox="1"/>
          <p:nvPr/>
        </p:nvSpPr>
        <p:spPr>
          <a:xfrm>
            <a:off x="6995160" y="34472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 · OPC UA로 상위 시스템에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17920" y="4197096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30" name="t-24"/>
          <p:cNvSpPr txBox="1"/>
          <p:nvPr/>
        </p:nvSpPr>
        <p:spPr>
          <a:xfrm>
            <a:off x="6217920" y="4306824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2400" dirty="0"/>
          </a:p>
        </p:txBody>
      </p:sp>
      <p:sp>
        <p:nvSpPr>
          <p:cNvPr id="31" name="t-25"/>
          <p:cNvSpPr txBox="1"/>
          <p:nvPr/>
        </p:nvSpPr>
        <p:spPr>
          <a:xfrm>
            <a:off x="6995160" y="42885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· 언어 · 탈퇴 · 자주 묻는 질문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17920" y="5038344"/>
            <a:ext cx="5394960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VEXPLOR AAS Studio는</a:t>
            </a:r>
            <a:endParaRPr lang="en-US" sz="2600" dirty="0"/>
          </a:p>
        </p:txBody>
      </p:sp>
      <p:sp>
        <p:nvSpPr>
          <p:cNvPr id="5" name="t-2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쓰던 세 가지 도구의 일을 웹 화면 하나에서 할 수 있습니다</a:t>
            </a:r>
            <a:endParaRPr lang="en-US" sz="1400" dirty="0"/>
          </a:p>
        </p:txBody>
      </p:sp>
      <p:sp>
        <p:nvSpPr>
          <p:cNvPr id="6" name="card-29"/>
          <p:cNvSpPr/>
          <p:nvPr/>
        </p:nvSpPr>
        <p:spPr>
          <a:xfrm>
            <a:off x="54864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7" name="cardtop-30"/>
          <p:cNvSpPr/>
          <p:nvPr/>
        </p:nvSpPr>
        <p:spPr>
          <a:xfrm>
            <a:off x="54864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8" name="t-31"/>
          <p:cNvSpPr txBox="1"/>
          <p:nvPr/>
        </p:nvSpPr>
        <p:spPr>
          <a:xfrm>
            <a:off x="82296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편집</a:t>
            </a:r>
            <a:endParaRPr lang="en-US" sz="1300" dirty="0"/>
          </a:p>
        </p:txBody>
      </p:sp>
      <p:sp>
        <p:nvSpPr>
          <p:cNvPr id="9" name="t-32"/>
          <p:cNvSpPr txBox="1"/>
          <p:nvPr/>
        </p:nvSpPr>
        <p:spPr>
          <a:xfrm>
            <a:off x="82296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열고 · 고치고 · 내려받기</a:t>
            </a:r>
            <a:endParaRPr lang="en-US" sz="1900" dirty="0"/>
          </a:p>
        </p:txBody>
      </p:sp>
      <p:sp>
        <p:nvSpPr>
          <p:cNvPr id="10" name="t-33"/>
          <p:cNvSpPr txBox="1"/>
          <p:nvPr/>
        </p:nvSpPr>
        <p:spPr>
          <a:xfrm>
            <a:off x="82296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없이 브라우저에서 AASX 파일을 열어 고칩니다.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규칙에 어긋난 곳을 짚어 주고, 고칠 수 있는 것은 자동으로 고칩니다.</a:t>
            </a:r>
            <a:endParaRPr lang="en-US" sz="1250" dirty="0"/>
          </a:p>
        </p:txBody>
      </p:sp>
      <p:sp>
        <p:nvSpPr>
          <p:cNvPr id="11" name="card-34"/>
          <p:cNvSpPr/>
          <p:nvPr/>
        </p:nvSpPr>
        <p:spPr>
          <a:xfrm>
            <a:off x="432816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2" name="cardtop-35"/>
          <p:cNvSpPr/>
          <p:nvPr/>
        </p:nvSpPr>
        <p:spPr>
          <a:xfrm>
            <a:off x="432816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3" name="t-36"/>
          <p:cNvSpPr txBox="1"/>
          <p:nvPr/>
        </p:nvSpPr>
        <p:spPr>
          <a:xfrm>
            <a:off x="460248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서버</a:t>
            </a:r>
            <a:endParaRPr lang="en-US" sz="1300" dirty="0"/>
          </a:p>
        </p:txBody>
      </p:sp>
      <p:sp>
        <p:nvSpPr>
          <p:cNvPr id="14" name="t-37"/>
          <p:cNvSpPr txBox="1"/>
          <p:nvPr/>
        </p:nvSpPr>
        <p:spPr>
          <a:xfrm>
            <a:off x="460248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API로 제공</a:t>
            </a:r>
            <a:endParaRPr lang="en-US" sz="1900" dirty="0"/>
          </a:p>
        </p:txBody>
      </p:sp>
      <p:sp>
        <p:nvSpPr>
          <p:cNvPr id="15" name="t-38"/>
          <p:cNvSpPr txBox="1"/>
          <p:nvPr/>
        </p:nvSpPr>
        <p:spPr>
          <a:xfrm>
            <a:off x="460248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작성한 AAS를 표준 API(IDTA Part 2)로 다른 시스템에 제공합니다.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서버를 세울 필요가 없습니다.</a:t>
            </a:r>
            <a:endParaRPr lang="en-US" sz="1250" dirty="0"/>
          </a:p>
        </p:txBody>
      </p:sp>
      <p:sp>
        <p:nvSpPr>
          <p:cNvPr id="16" name="card-39"/>
          <p:cNvSpPr/>
          <p:nvPr/>
        </p:nvSpPr>
        <p:spPr>
          <a:xfrm>
            <a:off x="8107680" y="1783080"/>
            <a:ext cx="3505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1B2D">
                <a:alpha val="8000"/>
              </a:srgbClr>
            </a:outerShdw>
          </a:effectLst>
        </p:spPr>
      </p:sp>
      <p:sp>
        <p:nvSpPr>
          <p:cNvPr id="17" name="cardtop-40"/>
          <p:cNvSpPr/>
          <p:nvPr/>
        </p:nvSpPr>
        <p:spPr>
          <a:xfrm>
            <a:off x="8107680" y="1783080"/>
            <a:ext cx="3505200" cy="73152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8" name="t-41"/>
          <p:cNvSpPr txBox="1"/>
          <p:nvPr/>
        </p:nvSpPr>
        <p:spPr>
          <a:xfrm>
            <a:off x="8382000" y="2057400"/>
            <a:ext cx="295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OPC UA</a:t>
            </a:r>
            <a:endParaRPr lang="en-US" sz="1300" dirty="0"/>
          </a:p>
        </p:txBody>
      </p:sp>
      <p:sp>
        <p:nvSpPr>
          <p:cNvPr id="19" name="t-42"/>
          <p:cNvSpPr txBox="1"/>
          <p:nvPr/>
        </p:nvSpPr>
        <p:spPr>
          <a:xfrm>
            <a:off x="8382000" y="2441448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 · 제공</a:t>
            </a:r>
            <a:endParaRPr lang="en-US" sz="1900" dirty="0"/>
          </a:p>
        </p:txBody>
      </p:sp>
      <p:sp>
        <p:nvSpPr>
          <p:cNvPr id="20" name="t-43"/>
          <p:cNvSpPr txBox="1"/>
          <p:nvPr/>
        </p:nvSpPr>
        <p:spPr>
          <a:xfrm>
            <a:off x="8382000" y="2971800"/>
            <a:ext cx="2956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설비(PLC)에서 값을 모으고, 상위 시스템(MES · SCADA)이 구독으로 받아 가게 합니다.</a:t>
            </a:r>
            <a:endParaRPr lang="en-US" sz="1250" dirty="0"/>
          </a:p>
        </p:txBody>
      </p:sp>
      <p:sp>
        <p:nvSpPr>
          <p:cNvPr id="21" name="note-44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2" name="notebar-45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3" name="t-46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「설비 한 대의 AAS 한 벌」을 다룹니다. 여러 설비는 공정 파일로 묶습니다(7장).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7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8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한눈에 보는 작업 순서</a:t>
            </a:r>
            <a:endParaRPr lang="en-US" sz="2600" dirty="0"/>
          </a:p>
        </p:txBody>
      </p:sp>
      <p:sp>
        <p:nvSpPr>
          <p:cNvPr id="5" name="t-49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대부분의 작업은 아래 다섯 단계로 끝납니다</a:t>
            </a:r>
            <a:endParaRPr lang="en-US" sz="1400" dirty="0"/>
          </a:p>
        </p:txBody>
      </p:sp>
      <p:sp>
        <p:nvSpPr>
          <p:cNvPr id="6" name="flow-50"/>
          <p:cNvSpPr/>
          <p:nvPr/>
        </p:nvSpPr>
        <p:spPr>
          <a:xfrm>
            <a:off x="548640" y="1920240"/>
            <a:ext cx="2322576" cy="960120"/>
          </a:xfrm>
          <a:prstGeom prst="homePlate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-51"/>
          <p:cNvSpPr txBox="1"/>
          <p:nvPr/>
        </p:nvSpPr>
        <p:spPr>
          <a:xfrm>
            <a:off x="68580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들어가기</a:t>
            </a:r>
            <a:endParaRPr lang="en-US" sz="1200" dirty="0"/>
          </a:p>
        </p:txBody>
      </p:sp>
      <p:sp>
        <p:nvSpPr>
          <p:cNvPr id="8" name="t-52"/>
          <p:cNvSpPr txBox="1"/>
          <p:nvPr/>
        </p:nvSpPr>
        <p:spPr>
          <a:xfrm>
            <a:off x="594360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또는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150" dirty="0"/>
          </a:p>
        </p:txBody>
      </p:sp>
      <p:sp>
        <p:nvSpPr>
          <p:cNvPr id="9" name="flow-53"/>
          <p:cNvSpPr/>
          <p:nvPr/>
        </p:nvSpPr>
        <p:spPr>
          <a:xfrm>
            <a:off x="2761488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-54"/>
          <p:cNvSpPr txBox="1"/>
          <p:nvPr/>
        </p:nvSpPr>
        <p:spPr>
          <a:xfrm>
            <a:off x="3108960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열기</a:t>
            </a:r>
            <a:endParaRPr lang="en-US" sz="1200" dirty="0"/>
          </a:p>
        </p:txBody>
      </p:sp>
      <p:sp>
        <p:nvSpPr>
          <p:cNvPr id="11" name="t-55"/>
          <p:cNvSpPr txBox="1"/>
          <p:nvPr/>
        </p:nvSpPr>
        <p:spPr>
          <a:xfrm>
            <a:off x="2807208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 · 내 AASX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· 새로 만들기</a:t>
            </a:r>
            <a:endParaRPr lang="en-US" sz="1150" dirty="0"/>
          </a:p>
        </p:txBody>
      </p:sp>
      <p:sp>
        <p:nvSpPr>
          <p:cNvPr id="12" name="flow-56"/>
          <p:cNvSpPr/>
          <p:nvPr/>
        </p:nvSpPr>
        <p:spPr>
          <a:xfrm>
            <a:off x="4974336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-57"/>
          <p:cNvSpPr txBox="1"/>
          <p:nvPr/>
        </p:nvSpPr>
        <p:spPr>
          <a:xfrm>
            <a:off x="5321808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고치기</a:t>
            </a:r>
            <a:endParaRPr lang="en-US" sz="1200" dirty="0"/>
          </a:p>
        </p:txBody>
      </p:sp>
      <p:sp>
        <p:nvSpPr>
          <p:cNvPr id="14" name="t-58"/>
          <p:cNvSpPr txBox="1"/>
          <p:nvPr/>
        </p:nvSpPr>
        <p:spPr>
          <a:xfrm>
            <a:off x="5020056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골라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· 이름 · 서브모델</a:t>
            </a:r>
            <a:endParaRPr lang="en-US" sz="1150" dirty="0"/>
          </a:p>
        </p:txBody>
      </p:sp>
      <p:sp>
        <p:nvSpPr>
          <p:cNvPr id="15" name="flow-59"/>
          <p:cNvSpPr/>
          <p:nvPr/>
        </p:nvSpPr>
        <p:spPr>
          <a:xfrm>
            <a:off x="7187184" y="1920240"/>
            <a:ext cx="2322576" cy="960120"/>
          </a:xfrm>
          <a:prstGeom prst="chevron">
            <a:avLst/>
          </a:prstGeom>
          <a:solidFill>
            <a:srgbClr val="9CC2F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t-60"/>
          <p:cNvSpPr txBox="1"/>
          <p:nvPr/>
        </p:nvSpPr>
        <p:spPr>
          <a:xfrm>
            <a:off x="7534656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</a:t>
            </a:r>
            <a:endParaRPr lang="en-US" sz="1200" dirty="0"/>
          </a:p>
        </p:txBody>
      </p:sp>
      <p:sp>
        <p:nvSpPr>
          <p:cNvPr id="17" name="t-61"/>
          <p:cNvSpPr txBox="1"/>
          <p:nvPr/>
        </p:nvSpPr>
        <p:spPr>
          <a:xfrm>
            <a:off x="7232904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확인 →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</a:t>
            </a:r>
            <a:endParaRPr lang="en-US" sz="1150" dirty="0"/>
          </a:p>
        </p:txBody>
      </p:sp>
      <p:sp>
        <p:nvSpPr>
          <p:cNvPr id="18" name="flow-62"/>
          <p:cNvSpPr/>
          <p:nvPr/>
        </p:nvSpPr>
        <p:spPr>
          <a:xfrm>
            <a:off x="9400032" y="1920240"/>
            <a:ext cx="2322576" cy="960120"/>
          </a:xfrm>
          <a:prstGeom prst="chevron">
            <a:avLst/>
          </a:prstGeom>
          <a:solidFill>
            <a:srgbClr val="2F7CF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-63"/>
          <p:cNvSpPr txBox="1"/>
          <p:nvPr/>
        </p:nvSpPr>
        <p:spPr>
          <a:xfrm>
            <a:off x="9747504" y="1920240"/>
            <a:ext cx="18013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200" dirty="0"/>
          </a:p>
        </p:txBody>
      </p:sp>
      <p:sp>
        <p:nvSpPr>
          <p:cNvPr id="20" name="t-64"/>
          <p:cNvSpPr txBox="1"/>
          <p:nvPr/>
        </p:nvSpPr>
        <p:spPr>
          <a:xfrm>
            <a:off x="9445752" y="3017520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· 결과서 ·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자료 · 번들</a:t>
            </a:r>
            <a:endParaRPr lang="en-US" sz="1150" dirty="0"/>
          </a:p>
        </p:txBody>
      </p:sp>
      <p:sp>
        <p:nvSpPr>
          <p:cNvPr id="21" name="note-65"/>
          <p:cNvSpPr/>
          <p:nvPr/>
        </p:nvSpPr>
        <p:spPr>
          <a:xfrm>
            <a:off x="548640" y="4343400"/>
            <a:ext cx="11064240" cy="64008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66"/>
          <p:cNvSpPr/>
          <p:nvPr/>
        </p:nvSpPr>
        <p:spPr>
          <a:xfrm>
            <a:off x="548640" y="4343400"/>
            <a:ext cx="64008" cy="6400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67"/>
          <p:cNvSpPr txBox="1"/>
          <p:nvPr/>
        </p:nvSpPr>
        <p:spPr>
          <a:xfrm>
            <a:off x="777240" y="43434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KOSMO 규칙을 따라 검사합니다. 공식 판정은 KOSMO Validator가 하며, 이 도구의 검사는 미리 걸러 주는 사전 점검입니다.</a:t>
            </a:r>
            <a:endParaRPr lang="en-US" sz="1250" dirty="0"/>
          </a:p>
        </p:txBody>
      </p:sp>
      <p:sp>
        <p:nvSpPr>
          <p:cNvPr id="24" name="note-68"/>
          <p:cNvSpPr/>
          <p:nvPr/>
        </p:nvSpPr>
        <p:spPr>
          <a:xfrm>
            <a:off x="548640" y="516636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5" name="notebar-69"/>
          <p:cNvSpPr/>
          <p:nvPr/>
        </p:nvSpPr>
        <p:spPr>
          <a:xfrm>
            <a:off x="548640" y="516636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6" name="t-70"/>
          <p:cNvSpPr txBox="1"/>
          <p:nvPr/>
        </p:nvSpPr>
        <p:spPr>
          <a:xfrm>
            <a:off x="777240" y="5166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그림의 주황 번호와 오른쪽 설명의 번호가 같은 곳을 가리킵니다.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71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시작하기</a:t>
            </a:r>
            <a:endParaRPr lang="en-US" sz="3800" dirty="0"/>
          </a:p>
        </p:txBody>
      </p:sp>
      <p:sp>
        <p:nvSpPr>
          <p:cNvPr id="4" name="t-72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회원가입 · 체험 계정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73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회원은 로그인, 처음이면 회원가입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체험 계정으로 먼저 둘러볼 수 있습니다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계정은 파일 내려받기와 견본 열기가 막혀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7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7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로그인 화면</a:t>
            </a:r>
            <a:endParaRPr lang="en-US" sz="2600" dirty="0"/>
          </a:p>
        </p:txBody>
      </p:sp>
      <p:sp>
        <p:nvSpPr>
          <p:cNvPr id="5" name="t-7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접속하면 가장 먼저 보이는 화면입니다</a:t>
            </a:r>
            <a:endParaRPr lang="en-US" sz="1400" dirty="0"/>
          </a:p>
        </p:txBody>
      </p:sp>
      <p:sp>
        <p:nvSpPr>
          <p:cNvPr id="6" name="frame-77"/>
          <p:cNvSpPr/>
          <p:nvPr/>
        </p:nvSpPr>
        <p:spPr>
          <a:xfrm>
            <a:off x="1276269" y="1645920"/>
            <a:ext cx="2750982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78" descr="화면: b-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6269" y="1645920"/>
            <a:ext cx="2750982" cy="4617720"/>
          </a:xfrm>
          <a:prstGeom prst="rect">
            <a:avLst/>
          </a:prstGeom>
        </p:spPr>
      </p:pic>
      <p:sp>
        <p:nvSpPr>
          <p:cNvPr id="8" name="mark-79"/>
          <p:cNvSpPr/>
          <p:nvPr/>
        </p:nvSpPr>
        <p:spPr>
          <a:xfrm>
            <a:off x="1391639" y="2492020"/>
            <a:ext cx="2520242" cy="1801794"/>
          </a:xfrm>
          <a:prstGeom prst="roundRect">
            <a:avLst>
              <a:gd name="adj" fmla="val 203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80"/>
          <p:cNvSpPr/>
          <p:nvPr/>
        </p:nvSpPr>
        <p:spPr>
          <a:xfrm>
            <a:off x="1245335" y="23457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81"/>
          <p:cNvSpPr txBox="1"/>
          <p:nvPr/>
        </p:nvSpPr>
        <p:spPr>
          <a:xfrm>
            <a:off x="1245335" y="23457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82"/>
          <p:cNvSpPr/>
          <p:nvPr/>
        </p:nvSpPr>
        <p:spPr>
          <a:xfrm>
            <a:off x="2097806" y="3941198"/>
            <a:ext cx="1107907" cy="248226"/>
          </a:xfrm>
          <a:prstGeom prst="roundRect">
            <a:avLst>
              <a:gd name="adj" fmla="val 147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83"/>
          <p:cNvSpPr/>
          <p:nvPr/>
        </p:nvSpPr>
        <p:spPr>
          <a:xfrm>
            <a:off x="1951502" y="37948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84"/>
          <p:cNvSpPr txBox="1"/>
          <p:nvPr/>
        </p:nvSpPr>
        <p:spPr>
          <a:xfrm>
            <a:off x="1951502" y="37948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85"/>
          <p:cNvSpPr/>
          <p:nvPr/>
        </p:nvSpPr>
        <p:spPr>
          <a:xfrm>
            <a:off x="1391639" y="4561397"/>
            <a:ext cx="2520242" cy="1593014"/>
          </a:xfrm>
          <a:prstGeom prst="roundRect">
            <a:avLst>
              <a:gd name="adj" fmla="val 229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86"/>
          <p:cNvSpPr/>
          <p:nvPr/>
        </p:nvSpPr>
        <p:spPr>
          <a:xfrm>
            <a:off x="1245335" y="441509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87"/>
          <p:cNvSpPr txBox="1"/>
          <p:nvPr/>
        </p:nvSpPr>
        <p:spPr>
          <a:xfrm>
            <a:off x="1245335" y="441509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88"/>
          <p:cNvSpPr/>
          <p:nvPr/>
        </p:nvSpPr>
        <p:spPr>
          <a:xfrm>
            <a:off x="5257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89"/>
          <p:cNvSpPr txBox="1"/>
          <p:nvPr/>
        </p:nvSpPr>
        <p:spPr>
          <a:xfrm>
            <a:off x="5257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90"/>
          <p:cNvSpPr txBox="1"/>
          <p:nvPr/>
        </p:nvSpPr>
        <p:spPr>
          <a:xfrm>
            <a:off x="5733288" y="173736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로그인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이름과 비밀번호를 입력하고 「로그인」을 누르세요.</a:t>
            </a:r>
            <a:endParaRPr lang="en-US" sz="1600" dirty="0"/>
          </a:p>
        </p:txBody>
      </p:sp>
      <p:sp>
        <p:nvSpPr>
          <p:cNvPr id="20" name="step-91"/>
          <p:cNvSpPr/>
          <p:nvPr/>
        </p:nvSpPr>
        <p:spPr>
          <a:xfrm>
            <a:off x="525780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92"/>
          <p:cNvSpPr txBox="1"/>
          <p:nvPr/>
        </p:nvSpPr>
        <p:spPr>
          <a:xfrm>
            <a:off x="525780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93"/>
          <p:cNvSpPr txBox="1"/>
          <p:nvPr/>
        </p:nvSpPr>
        <p:spPr>
          <a:xfrm>
            <a:off x="5733288" y="292608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처음이신가요? 회원가입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가입하면 작업한 파일을 내려받을 수 있고, 올린 파일이 보관됩니다.</a:t>
            </a:r>
            <a:endParaRPr lang="en-US" sz="1600" dirty="0"/>
          </a:p>
        </p:txBody>
      </p:sp>
      <p:sp>
        <p:nvSpPr>
          <p:cNvPr id="23" name="step-94"/>
          <p:cNvSpPr/>
          <p:nvPr/>
        </p:nvSpPr>
        <p:spPr>
          <a:xfrm>
            <a:off x="525780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95"/>
          <p:cNvSpPr txBox="1"/>
          <p:nvPr/>
        </p:nvSpPr>
        <p:spPr>
          <a:xfrm>
            <a:off x="5257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96"/>
          <p:cNvSpPr txBox="1"/>
          <p:nvPr/>
        </p:nvSpPr>
        <p:spPr>
          <a:xfrm>
            <a:off x="5733288" y="4114800"/>
            <a:ext cx="592531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계정으로 들어가기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없이 바로 둘러볼 수 있는 공용 계정입니다(admin / 1234).</a:t>
            </a:r>
            <a:endParaRPr lang="en-US" sz="1600" dirty="0"/>
          </a:p>
        </p:txBody>
      </p:sp>
      <p:sp>
        <p:nvSpPr>
          <p:cNvPr id="26" name="note-97"/>
          <p:cNvSpPr/>
          <p:nvPr/>
        </p:nvSpPr>
        <p:spPr>
          <a:xfrm>
            <a:off x="5257800" y="5486400"/>
            <a:ext cx="640080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98"/>
          <p:cNvSpPr/>
          <p:nvPr/>
        </p:nvSpPr>
        <p:spPr>
          <a:xfrm>
            <a:off x="5257800" y="548640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99"/>
          <p:cNvSpPr txBox="1"/>
          <p:nvPr/>
        </p:nvSpPr>
        <p:spPr>
          <a:xfrm>
            <a:off x="5486400" y="548640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5번 틀리면 5분 동안 그 계정으로 로그인할 수 없습니다.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0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0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회원가입</a:t>
            </a:r>
            <a:endParaRPr lang="en-US" sz="2600" dirty="0"/>
          </a:p>
        </p:txBody>
      </p:sp>
      <p:sp>
        <p:nvSpPr>
          <p:cNvPr id="5" name="t-10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1분이면 끝납니다. 확인 메일은 보내지 않습니다</a:t>
            </a:r>
            <a:endParaRPr lang="en-US" sz="1400" dirty="0"/>
          </a:p>
        </p:txBody>
      </p:sp>
      <p:sp>
        <p:nvSpPr>
          <p:cNvPr id="6" name="frame-103"/>
          <p:cNvSpPr/>
          <p:nvPr/>
        </p:nvSpPr>
        <p:spPr>
          <a:xfrm>
            <a:off x="1336853" y="1600200"/>
            <a:ext cx="1989734" cy="46634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04" descr="화면: b-sign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6853" y="1600200"/>
            <a:ext cx="1989734" cy="4663440"/>
          </a:xfrm>
          <a:prstGeom prst="rect">
            <a:avLst/>
          </a:prstGeom>
        </p:spPr>
      </p:pic>
      <p:sp>
        <p:nvSpPr>
          <p:cNvPr id="8" name="mark-105"/>
          <p:cNvSpPr/>
          <p:nvPr/>
        </p:nvSpPr>
        <p:spPr>
          <a:xfrm>
            <a:off x="1504711" y="2403174"/>
            <a:ext cx="1654019" cy="241663"/>
          </a:xfrm>
          <a:prstGeom prst="roundRect">
            <a:avLst>
              <a:gd name="adj" fmla="val 151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06"/>
          <p:cNvSpPr/>
          <p:nvPr/>
        </p:nvSpPr>
        <p:spPr>
          <a:xfrm>
            <a:off x="1358407" y="225687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07"/>
          <p:cNvSpPr txBox="1"/>
          <p:nvPr/>
        </p:nvSpPr>
        <p:spPr>
          <a:xfrm>
            <a:off x="1358407" y="22568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08"/>
          <p:cNvSpPr/>
          <p:nvPr/>
        </p:nvSpPr>
        <p:spPr>
          <a:xfrm>
            <a:off x="1504711" y="3837737"/>
            <a:ext cx="1654019" cy="241663"/>
          </a:xfrm>
          <a:prstGeom prst="roundRect">
            <a:avLst>
              <a:gd name="adj" fmla="val 151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09"/>
          <p:cNvSpPr/>
          <p:nvPr/>
        </p:nvSpPr>
        <p:spPr>
          <a:xfrm>
            <a:off x="1358407" y="36914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10"/>
          <p:cNvSpPr txBox="1"/>
          <p:nvPr/>
        </p:nvSpPr>
        <p:spPr>
          <a:xfrm>
            <a:off x="1358407" y="36914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11"/>
          <p:cNvSpPr/>
          <p:nvPr/>
        </p:nvSpPr>
        <p:spPr>
          <a:xfrm>
            <a:off x="1504711" y="4552798"/>
            <a:ext cx="1654019" cy="1089965"/>
          </a:xfrm>
          <a:prstGeom prst="roundRect">
            <a:avLst>
              <a:gd name="adj" fmla="val 335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12"/>
          <p:cNvSpPr/>
          <p:nvPr/>
        </p:nvSpPr>
        <p:spPr>
          <a:xfrm>
            <a:off x="1358407" y="44064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13"/>
          <p:cNvSpPr txBox="1"/>
          <p:nvPr/>
        </p:nvSpPr>
        <p:spPr>
          <a:xfrm>
            <a:off x="1358407" y="44064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14"/>
          <p:cNvSpPr/>
          <p:nvPr/>
        </p:nvSpPr>
        <p:spPr>
          <a:xfrm>
            <a:off x="1504711" y="5663140"/>
            <a:ext cx="1654019" cy="241663"/>
          </a:xfrm>
          <a:prstGeom prst="roundRect">
            <a:avLst>
              <a:gd name="adj" fmla="val 151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15"/>
          <p:cNvSpPr/>
          <p:nvPr/>
        </p:nvSpPr>
        <p:spPr>
          <a:xfrm>
            <a:off x="1358407" y="551683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16"/>
          <p:cNvSpPr txBox="1"/>
          <p:nvPr/>
        </p:nvSpPr>
        <p:spPr>
          <a:xfrm>
            <a:off x="1358407" y="55168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17"/>
          <p:cNvSpPr/>
          <p:nvPr/>
        </p:nvSpPr>
        <p:spPr>
          <a:xfrm>
            <a:off x="45720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18"/>
          <p:cNvSpPr txBox="1"/>
          <p:nvPr/>
        </p:nvSpPr>
        <p:spPr>
          <a:xfrm>
            <a:off x="45720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19"/>
          <p:cNvSpPr txBox="1"/>
          <p:nvPr/>
        </p:nvSpPr>
        <p:spPr>
          <a:xfrm>
            <a:off x="5047488" y="173736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이름 · 이름 · 회사명 · 이메일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입력합니다. 로그인 이름은 영문으로 시작합니다(영문 · 숫자 · _ . -).</a:t>
            </a:r>
            <a:endParaRPr lang="en-US" sz="1500" dirty="0"/>
          </a:p>
        </p:txBody>
      </p:sp>
      <p:sp>
        <p:nvSpPr>
          <p:cNvPr id="23" name="step-120"/>
          <p:cNvSpPr/>
          <p:nvPr/>
        </p:nvSpPr>
        <p:spPr>
          <a:xfrm>
            <a:off x="45720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21"/>
          <p:cNvSpPr txBox="1"/>
          <p:nvPr/>
        </p:nvSpPr>
        <p:spPr>
          <a:xfrm>
            <a:off x="45720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22"/>
          <p:cNvSpPr txBox="1"/>
          <p:nvPr/>
        </p:nvSpPr>
        <p:spPr>
          <a:xfrm>
            <a:off x="5047488" y="283464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두 번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10자 이상. 비밀번호는 암호화해 저장하므로 운영자도 볼 수 없습니다.</a:t>
            </a:r>
            <a:endParaRPr lang="en-US" sz="1500" dirty="0"/>
          </a:p>
        </p:txBody>
      </p:sp>
      <p:sp>
        <p:nvSpPr>
          <p:cNvPr id="26" name="step-123"/>
          <p:cNvSpPr/>
          <p:nvPr/>
        </p:nvSpPr>
        <p:spPr>
          <a:xfrm>
            <a:off x="45720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24"/>
          <p:cNvSpPr txBox="1"/>
          <p:nvPr/>
        </p:nvSpPr>
        <p:spPr>
          <a:xfrm>
            <a:off x="45720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25"/>
          <p:cNvSpPr txBox="1"/>
          <p:nvPr/>
        </p:nvSpPr>
        <p:spPr>
          <a:xfrm>
            <a:off x="5047488" y="393192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수집 · 이용 동의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· 왜 · 언제까지 받는지 확인하고 체크합니다. 링크에서 처리방침 전문을 볼 수 있습니다.</a:t>
            </a:r>
            <a:endParaRPr lang="en-US" sz="1500" dirty="0"/>
          </a:p>
        </p:txBody>
      </p:sp>
      <p:sp>
        <p:nvSpPr>
          <p:cNvPr id="29" name="step-126"/>
          <p:cNvSpPr/>
          <p:nvPr/>
        </p:nvSpPr>
        <p:spPr>
          <a:xfrm>
            <a:off x="45720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27"/>
          <p:cNvSpPr txBox="1"/>
          <p:nvPr/>
        </p:nvSpPr>
        <p:spPr>
          <a:xfrm>
            <a:off x="45720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28"/>
          <p:cNvSpPr txBox="1"/>
          <p:nvPr/>
        </p:nvSpPr>
        <p:spPr>
          <a:xfrm>
            <a:off x="5047488" y="5029200"/>
            <a:ext cx="65653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「가입하고 시작하기」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가입과 동시에 로그인됩니다.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2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3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체험 계정으로 둘러보기</a:t>
            </a:r>
            <a:endParaRPr lang="en-US" sz="2600" dirty="0"/>
          </a:p>
        </p:txBody>
      </p:sp>
      <p:sp>
        <p:nvSpPr>
          <p:cNvPr id="5" name="t-13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전에 기능을 먼저 써 볼 수 있습니다</a:t>
            </a:r>
            <a:endParaRPr lang="en-US" sz="1400" dirty="0"/>
          </a:p>
        </p:txBody>
      </p:sp>
      <p:sp>
        <p:nvSpPr>
          <p:cNvPr id="6" name="frame-132"/>
          <p:cNvSpPr/>
          <p:nvPr/>
        </p:nvSpPr>
        <p:spPr>
          <a:xfrm>
            <a:off x="1285240" y="1645920"/>
            <a:ext cx="5201920" cy="292608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33" descr="화면: b-demo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5240" y="1645920"/>
            <a:ext cx="5201920" cy="2926080"/>
          </a:xfrm>
          <a:prstGeom prst="rect">
            <a:avLst/>
          </a:prstGeom>
        </p:spPr>
      </p:pic>
      <p:sp>
        <p:nvSpPr>
          <p:cNvPr id="8" name="mark-134"/>
          <p:cNvSpPr/>
          <p:nvPr/>
        </p:nvSpPr>
        <p:spPr>
          <a:xfrm>
            <a:off x="1303528" y="1900022"/>
            <a:ext cx="5165344" cy="203810"/>
          </a:xfrm>
          <a:prstGeom prst="roundRect">
            <a:avLst>
              <a:gd name="adj" fmla="val 1794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35"/>
          <p:cNvSpPr/>
          <p:nvPr/>
        </p:nvSpPr>
        <p:spPr>
          <a:xfrm>
            <a:off x="1157224" y="175371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36"/>
          <p:cNvSpPr txBox="1"/>
          <p:nvPr/>
        </p:nvSpPr>
        <p:spPr>
          <a:xfrm>
            <a:off x="1157224" y="175371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37"/>
          <p:cNvSpPr/>
          <p:nvPr/>
        </p:nvSpPr>
        <p:spPr>
          <a:xfrm>
            <a:off x="5964225" y="1769974"/>
            <a:ext cx="504647" cy="168046"/>
          </a:xfrm>
          <a:prstGeom prst="roundRect">
            <a:avLst>
              <a:gd name="adj" fmla="val 2176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38"/>
          <p:cNvSpPr/>
          <p:nvPr/>
        </p:nvSpPr>
        <p:spPr>
          <a:xfrm>
            <a:off x="5817921" y="162367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39"/>
          <p:cNvSpPr txBox="1"/>
          <p:nvPr/>
        </p:nvSpPr>
        <p:spPr>
          <a:xfrm>
            <a:off x="5817921" y="16236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140"/>
          <p:cNvSpPr/>
          <p:nvPr/>
        </p:nvSpPr>
        <p:spPr>
          <a:xfrm>
            <a:off x="758952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141"/>
          <p:cNvSpPr txBox="1"/>
          <p:nvPr/>
        </p:nvSpPr>
        <p:spPr>
          <a:xfrm>
            <a:off x="758952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142"/>
          <p:cNvSpPr txBox="1"/>
          <p:nvPr/>
        </p:nvSpPr>
        <p:spPr>
          <a:xfrm>
            <a:off x="8065008" y="173736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노란 띠 — 체험판 안내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체험판은 일정 시간 후 초기화 됩니다.</a:t>
            </a:r>
            <a:endParaRPr lang="en-US" sz="1500" dirty="0"/>
          </a:p>
        </p:txBody>
      </p:sp>
      <p:sp>
        <p:nvSpPr>
          <p:cNvPr id="17" name="step-143"/>
          <p:cNvSpPr/>
          <p:nvPr/>
        </p:nvSpPr>
        <p:spPr>
          <a:xfrm>
            <a:off x="758952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144"/>
          <p:cNvSpPr txBox="1"/>
          <p:nvPr/>
        </p:nvSpPr>
        <p:spPr>
          <a:xfrm>
            <a:off x="758952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145"/>
          <p:cNvSpPr txBox="1"/>
          <p:nvPr/>
        </p:nvSpPr>
        <p:spPr>
          <a:xfrm>
            <a:off x="8065008" y="2971800"/>
            <a:ext cx="354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AASX 내려받기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500" dirty="0"/>
          </a:p>
        </p:txBody>
      </p:sp>
      <p:graphicFrame>
        <p:nvGraphicFramePr>
          <p:cNvPr id="9" name="table-1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5488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 (admin / 1234)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가입한 회원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고치기 · 검사 · 자동 고치기 · 결과서 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 사용 가능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 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· 번들 · 첨부 파일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🔒 회원가입 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비밀번호 바꾸기 · 탈퇴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(여럿이 함께 쓰는 계정)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147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화면 둘러보기</a:t>
            </a:r>
            <a:endParaRPr lang="en-US" sz="3800" dirty="0"/>
          </a:p>
        </p:txBody>
      </p:sp>
      <p:sp>
        <p:nvSpPr>
          <p:cNvPr id="4" name="t-148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칸 구성 · 머리줄 · 메뉴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149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화면은 머리줄과 세 칸으로 나뉩니다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쓰는 기능은 모두 머리줄에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50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51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화면 구성</a:t>
            </a:r>
            <a:endParaRPr lang="en-US" sz="2600" dirty="0"/>
          </a:p>
        </p:txBody>
      </p:sp>
      <p:sp>
        <p:nvSpPr>
          <p:cNvPr id="5" name="t-152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아래에 트리 · 내용 · 수집 세 칸이 있습니다</a:t>
            </a:r>
            <a:endParaRPr lang="en-US" sz="1400" dirty="0"/>
          </a:p>
        </p:txBody>
      </p:sp>
      <p:sp>
        <p:nvSpPr>
          <p:cNvPr id="6" name="frame-153"/>
          <p:cNvSpPr/>
          <p:nvPr/>
        </p:nvSpPr>
        <p:spPr>
          <a:xfrm>
            <a:off x="548640" y="1771650"/>
            <a:ext cx="7680960" cy="43205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54" descr="화면: a-layout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1650"/>
            <a:ext cx="7680960" cy="4320540"/>
          </a:xfrm>
          <a:prstGeom prst="rect">
            <a:avLst/>
          </a:prstGeom>
        </p:spPr>
      </p:pic>
      <p:sp>
        <p:nvSpPr>
          <p:cNvPr id="8" name="mark-155"/>
          <p:cNvSpPr/>
          <p:nvPr/>
        </p:nvSpPr>
        <p:spPr>
          <a:xfrm>
            <a:off x="566928" y="1789938"/>
            <a:ext cx="7644384" cy="436169"/>
          </a:xfrm>
          <a:prstGeom prst="roundRect">
            <a:avLst>
              <a:gd name="adj" fmla="val 838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56"/>
          <p:cNvSpPr/>
          <p:nvPr/>
        </p:nvSpPr>
        <p:spPr>
          <a:xfrm>
            <a:off x="420624" y="16436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57"/>
          <p:cNvSpPr txBox="1"/>
          <p:nvPr/>
        </p:nvSpPr>
        <p:spPr>
          <a:xfrm>
            <a:off x="420624" y="16436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58"/>
          <p:cNvSpPr/>
          <p:nvPr/>
        </p:nvSpPr>
        <p:spPr>
          <a:xfrm>
            <a:off x="566928" y="2162099"/>
            <a:ext cx="1741932" cy="3911803"/>
          </a:xfrm>
          <a:prstGeom prst="roundRect">
            <a:avLst>
              <a:gd name="adj" fmla="val 210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59"/>
          <p:cNvSpPr/>
          <p:nvPr/>
        </p:nvSpPr>
        <p:spPr>
          <a:xfrm>
            <a:off x="420624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60"/>
          <p:cNvSpPr txBox="1"/>
          <p:nvPr/>
        </p:nvSpPr>
        <p:spPr>
          <a:xfrm>
            <a:off x="420624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61"/>
          <p:cNvSpPr/>
          <p:nvPr/>
        </p:nvSpPr>
        <p:spPr>
          <a:xfrm>
            <a:off x="2273656" y="2162099"/>
            <a:ext cx="4038905" cy="3911803"/>
          </a:xfrm>
          <a:prstGeom prst="roundRect">
            <a:avLst>
              <a:gd name="adj" fmla="val 93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62"/>
          <p:cNvSpPr/>
          <p:nvPr/>
        </p:nvSpPr>
        <p:spPr>
          <a:xfrm>
            <a:off x="21273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63"/>
          <p:cNvSpPr txBox="1"/>
          <p:nvPr/>
        </p:nvSpPr>
        <p:spPr>
          <a:xfrm>
            <a:off x="21273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64"/>
          <p:cNvSpPr/>
          <p:nvPr/>
        </p:nvSpPr>
        <p:spPr>
          <a:xfrm>
            <a:off x="6277356" y="2162099"/>
            <a:ext cx="1933956" cy="3911803"/>
          </a:xfrm>
          <a:prstGeom prst="roundRect">
            <a:avLst>
              <a:gd name="adj" fmla="val 18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65"/>
          <p:cNvSpPr/>
          <p:nvPr/>
        </p:nvSpPr>
        <p:spPr>
          <a:xfrm>
            <a:off x="6131052" y="201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66"/>
          <p:cNvSpPr txBox="1"/>
          <p:nvPr/>
        </p:nvSpPr>
        <p:spPr>
          <a:xfrm>
            <a:off x="6131052" y="201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167"/>
          <p:cNvSpPr/>
          <p:nvPr/>
        </p:nvSpPr>
        <p:spPr>
          <a:xfrm>
            <a:off x="85496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168"/>
          <p:cNvSpPr txBox="1"/>
          <p:nvPr/>
        </p:nvSpPr>
        <p:spPr>
          <a:xfrm>
            <a:off x="85496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169"/>
          <p:cNvSpPr txBox="1"/>
          <p:nvPr/>
        </p:nvSpPr>
        <p:spPr>
          <a:xfrm>
            <a:off x="9025128" y="173736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· 서브모델 · 자동 고치기 · 내보내기 · 내려받기 · 설정</a:t>
            </a:r>
            <a:endParaRPr lang="en-US" sz="1400" dirty="0"/>
          </a:p>
        </p:txBody>
      </p:sp>
      <p:sp>
        <p:nvSpPr>
          <p:cNvPr id="23" name="step-170"/>
          <p:cNvSpPr/>
          <p:nvPr/>
        </p:nvSpPr>
        <p:spPr>
          <a:xfrm>
            <a:off x="854964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171"/>
          <p:cNvSpPr txBox="1"/>
          <p:nvPr/>
        </p:nvSpPr>
        <p:spPr>
          <a:xfrm>
            <a:off x="854964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172"/>
          <p:cNvSpPr txBox="1"/>
          <p:nvPr/>
        </p:nvSpPr>
        <p:spPr>
          <a:xfrm>
            <a:off x="9025128" y="283464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 (왼쪽)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 → 서브모델 → 요소 순서로 펼쳐집니다. 고르면 가운데에 내용이 나옵니다.</a:t>
            </a:r>
            <a:endParaRPr lang="en-US" sz="1400" dirty="0"/>
          </a:p>
        </p:txBody>
      </p:sp>
      <p:sp>
        <p:nvSpPr>
          <p:cNvPr id="26" name="step-173"/>
          <p:cNvSpPr/>
          <p:nvPr/>
        </p:nvSpPr>
        <p:spPr>
          <a:xfrm>
            <a:off x="854964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174"/>
          <p:cNvSpPr txBox="1"/>
          <p:nvPr/>
        </p:nvSpPr>
        <p:spPr>
          <a:xfrm>
            <a:off x="854964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175"/>
          <p:cNvSpPr txBox="1"/>
          <p:nvPr/>
        </p:nvSpPr>
        <p:spPr>
          <a:xfrm>
            <a:off x="9025128" y="393192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 (가운데)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· 값 고치기 · 부품 구성(BoM)</a:t>
            </a:r>
            <a:endParaRPr lang="en-US" sz="1400" dirty="0"/>
          </a:p>
        </p:txBody>
      </p:sp>
      <p:sp>
        <p:nvSpPr>
          <p:cNvPr id="29" name="step-176"/>
          <p:cNvSpPr/>
          <p:nvPr/>
        </p:nvSpPr>
        <p:spPr>
          <a:xfrm>
            <a:off x="854964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177"/>
          <p:cNvSpPr txBox="1"/>
          <p:nvPr/>
        </p:nvSpPr>
        <p:spPr>
          <a:xfrm>
            <a:off x="854964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178"/>
          <p:cNvSpPr txBox="1"/>
          <p:nvPr/>
        </p:nvSpPr>
        <p:spPr>
          <a:xfrm>
            <a:off x="9025128" y="5029200"/>
            <a:ext cx="2633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(오른쪽)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값을 가져옵니다(OPC UA).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17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18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머리줄</a:t>
            </a:r>
            <a:endParaRPr lang="en-US" sz="2600" dirty="0"/>
          </a:p>
        </p:txBody>
      </p:sp>
      <p:sp>
        <p:nvSpPr>
          <p:cNvPr id="5" name="t-18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번호를 눌러 해당 기능으로 바로 갑니다</a:t>
            </a:r>
            <a:endParaRPr lang="en-US" sz="1400" dirty="0"/>
          </a:p>
        </p:txBody>
      </p:sp>
      <p:sp>
        <p:nvSpPr>
          <p:cNvPr id="6" name="frame-182"/>
          <p:cNvSpPr/>
          <p:nvPr/>
        </p:nvSpPr>
        <p:spPr>
          <a:xfrm>
            <a:off x="548640" y="1694147"/>
            <a:ext cx="5440680" cy="77222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183" descr="화면: a-header-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4147"/>
            <a:ext cx="5440680" cy="772226"/>
          </a:xfrm>
          <a:prstGeom prst="rect">
            <a:avLst/>
          </a:prstGeom>
        </p:spPr>
      </p:pic>
      <p:sp>
        <p:nvSpPr>
          <p:cNvPr id="8" name="mark-184"/>
          <p:cNvSpPr/>
          <p:nvPr/>
        </p:nvSpPr>
        <p:spPr>
          <a:xfrm>
            <a:off x="2561279" y="1732346"/>
            <a:ext cx="616851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185"/>
          <p:cNvSpPr/>
          <p:nvPr/>
        </p:nvSpPr>
        <p:spPr>
          <a:xfrm>
            <a:off x="2414975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186"/>
          <p:cNvSpPr txBox="1"/>
          <p:nvPr/>
        </p:nvSpPr>
        <p:spPr>
          <a:xfrm>
            <a:off x="2414975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187"/>
          <p:cNvSpPr/>
          <p:nvPr/>
        </p:nvSpPr>
        <p:spPr>
          <a:xfrm>
            <a:off x="3184324" y="1732346"/>
            <a:ext cx="2345583" cy="336042"/>
          </a:xfrm>
          <a:prstGeom prst="roundRect">
            <a:avLst>
              <a:gd name="adj" fmla="val 1088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188"/>
          <p:cNvSpPr/>
          <p:nvPr/>
        </p:nvSpPr>
        <p:spPr>
          <a:xfrm>
            <a:off x="3038020" y="15860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189"/>
          <p:cNvSpPr txBox="1"/>
          <p:nvPr/>
        </p:nvSpPr>
        <p:spPr>
          <a:xfrm>
            <a:off x="3038020" y="15860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190"/>
          <p:cNvSpPr/>
          <p:nvPr/>
        </p:nvSpPr>
        <p:spPr>
          <a:xfrm>
            <a:off x="2025986" y="2083357"/>
            <a:ext cx="862559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191"/>
          <p:cNvSpPr/>
          <p:nvPr/>
        </p:nvSpPr>
        <p:spPr>
          <a:xfrm>
            <a:off x="1879682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192"/>
          <p:cNvSpPr txBox="1"/>
          <p:nvPr/>
        </p:nvSpPr>
        <p:spPr>
          <a:xfrm>
            <a:off x="1879682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193"/>
          <p:cNvSpPr/>
          <p:nvPr/>
        </p:nvSpPr>
        <p:spPr>
          <a:xfrm>
            <a:off x="3043920" y="2083357"/>
            <a:ext cx="1125818" cy="344817"/>
          </a:xfrm>
          <a:prstGeom prst="roundRect">
            <a:avLst>
              <a:gd name="adj" fmla="val 1060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194"/>
          <p:cNvSpPr/>
          <p:nvPr/>
        </p:nvSpPr>
        <p:spPr>
          <a:xfrm>
            <a:off x="2897616" y="19370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195"/>
          <p:cNvSpPr txBox="1"/>
          <p:nvPr/>
        </p:nvSpPr>
        <p:spPr>
          <a:xfrm>
            <a:off x="2897616" y="19370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frame-196"/>
          <p:cNvSpPr/>
          <p:nvPr/>
        </p:nvSpPr>
        <p:spPr>
          <a:xfrm>
            <a:off x="6172200" y="1693164"/>
            <a:ext cx="5440680" cy="1139952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1" name="screen-197" descr="화면: a-header-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693164"/>
            <a:ext cx="5440680" cy="1139952"/>
          </a:xfrm>
          <a:prstGeom prst="rect">
            <a:avLst/>
          </a:prstGeom>
        </p:spPr>
      </p:pic>
      <p:sp>
        <p:nvSpPr>
          <p:cNvPr id="22" name="mark-198"/>
          <p:cNvSpPr/>
          <p:nvPr/>
        </p:nvSpPr>
        <p:spPr>
          <a:xfrm>
            <a:off x="8536686" y="1790700"/>
            <a:ext cx="2033016" cy="426720"/>
          </a:xfrm>
          <a:prstGeom prst="roundRect">
            <a:avLst>
              <a:gd name="adj" fmla="val 857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199"/>
          <p:cNvSpPr/>
          <p:nvPr/>
        </p:nvSpPr>
        <p:spPr>
          <a:xfrm>
            <a:off x="8390382" y="164439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200"/>
          <p:cNvSpPr txBox="1"/>
          <p:nvPr/>
        </p:nvSpPr>
        <p:spPr>
          <a:xfrm>
            <a:off x="8390382" y="16443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mark-201"/>
          <p:cNvSpPr/>
          <p:nvPr/>
        </p:nvSpPr>
        <p:spPr>
          <a:xfrm>
            <a:off x="8640318" y="2282952"/>
            <a:ext cx="124282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6" name="markdot-202"/>
          <p:cNvSpPr/>
          <p:nvPr/>
        </p:nvSpPr>
        <p:spPr>
          <a:xfrm>
            <a:off x="8494014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-203"/>
          <p:cNvSpPr txBox="1"/>
          <p:nvPr/>
        </p:nvSpPr>
        <p:spPr>
          <a:xfrm>
            <a:off x="8494014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mark-204"/>
          <p:cNvSpPr/>
          <p:nvPr/>
        </p:nvSpPr>
        <p:spPr>
          <a:xfrm>
            <a:off x="9922764" y="2282952"/>
            <a:ext cx="1566672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205"/>
          <p:cNvSpPr/>
          <p:nvPr/>
        </p:nvSpPr>
        <p:spPr>
          <a:xfrm>
            <a:off x="9776460" y="213664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206"/>
          <p:cNvSpPr txBox="1"/>
          <p:nvPr/>
        </p:nvSpPr>
        <p:spPr>
          <a:xfrm>
            <a:off x="9776460" y="2136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100" dirty="0"/>
          </a:p>
        </p:txBody>
      </p:sp>
      <p:sp>
        <p:nvSpPr>
          <p:cNvPr id="31" name="mark-207"/>
          <p:cNvSpPr/>
          <p:nvPr/>
        </p:nvSpPr>
        <p:spPr>
          <a:xfrm>
            <a:off x="10609326" y="1764792"/>
            <a:ext cx="880110" cy="478536"/>
          </a:xfrm>
          <a:prstGeom prst="roundRect">
            <a:avLst>
              <a:gd name="adj" fmla="val 764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32" name="markdot-208"/>
          <p:cNvSpPr/>
          <p:nvPr/>
        </p:nvSpPr>
        <p:spPr>
          <a:xfrm>
            <a:off x="10463022" y="16184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-209"/>
          <p:cNvSpPr txBox="1"/>
          <p:nvPr/>
        </p:nvSpPr>
        <p:spPr>
          <a:xfrm>
            <a:off x="10463022" y="1618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2" name="table-2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463040"/>
                <a:gridCol w="3246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열기 · 새로 만들기 · 번들 열기 · 견본 열기 · 파일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열린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열어 둔 파일 사이를 오갑니다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추가 · 다른 파일에서 가져오기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수 있는 항목을 미리 보고 골라서 고칩니다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-2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3063240"/>
          <a:ext cx="54406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063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· 경고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누르면 검사 결과가 열립니다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내보내기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검증 결과서 · 문서용 자료 · 레퍼런스 번들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AASX 내려받기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파일을 .aasx로 받습니다(회원)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 · 비밀번호 · 로그아웃 · 탈퇴 · 검사 규칙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36" name="note-212"/>
          <p:cNvSpPr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7" name="notebar-213"/>
          <p:cNvSpPr/>
          <p:nvPr/>
        </p:nvSpPr>
        <p:spPr>
          <a:xfrm>
            <a:off x="548640" y="553212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8" name="t-214"/>
          <p:cNvSpPr txBox="1"/>
          <p:nvPr/>
        </p:nvSpPr>
        <p:spPr>
          <a:xfrm>
            <a:off x="777240" y="55321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되돌리기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왼쪽 아래 「↶ 되돌리기」(Ctrl+Z)로 방금 한 작업을 취소할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1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1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둘러보기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메뉴 한눈에</a:t>
            </a:r>
            <a:endParaRPr lang="en-US" sz="2600" dirty="0"/>
          </a:p>
        </p:txBody>
      </p:sp>
      <p:sp>
        <p:nvSpPr>
          <p:cNvPr id="5" name="t-21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▾ 표시가 있는 단추를 누르면 메뉴가 펼쳐집니다</a:t>
            </a:r>
            <a:endParaRPr lang="en-US" sz="1400" dirty="0"/>
          </a:p>
        </p:txBody>
      </p:sp>
      <p:sp>
        <p:nvSpPr>
          <p:cNvPr id="6" name="frame-218"/>
          <p:cNvSpPr/>
          <p:nvPr/>
        </p:nvSpPr>
        <p:spPr>
          <a:xfrm>
            <a:off x="548640" y="1787887"/>
            <a:ext cx="2606040" cy="300790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19" descr="화면: a-menu-f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7887"/>
            <a:ext cx="2606040" cy="3007906"/>
          </a:xfrm>
          <a:prstGeom prst="rect">
            <a:avLst/>
          </a:prstGeom>
        </p:spPr>
      </p:pic>
      <p:sp>
        <p:nvSpPr>
          <p:cNvPr id="8" name="t-220"/>
          <p:cNvSpPr txBox="1"/>
          <p:nvPr/>
        </p:nvSpPr>
        <p:spPr>
          <a:xfrm>
            <a:off x="54864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</a:t>
            </a:r>
            <a:endParaRPr lang="en-US" sz="1150" dirty="0"/>
          </a:p>
        </p:txBody>
      </p:sp>
      <p:sp>
        <p:nvSpPr>
          <p:cNvPr id="9" name="frame-221"/>
          <p:cNvSpPr/>
          <p:nvPr/>
        </p:nvSpPr>
        <p:spPr>
          <a:xfrm>
            <a:off x="3367735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0" name="screen-222" descr="화면: a-menu-su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7735" y="2457664"/>
            <a:ext cx="2606040" cy="1668353"/>
          </a:xfrm>
          <a:prstGeom prst="rect">
            <a:avLst/>
          </a:prstGeom>
        </p:spPr>
      </p:pic>
      <p:sp>
        <p:nvSpPr>
          <p:cNvPr id="11" name="t-223"/>
          <p:cNvSpPr txBox="1"/>
          <p:nvPr/>
        </p:nvSpPr>
        <p:spPr>
          <a:xfrm>
            <a:off x="3367735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</a:t>
            </a:r>
            <a:endParaRPr lang="en-US" sz="1150" dirty="0"/>
          </a:p>
        </p:txBody>
      </p:sp>
      <p:sp>
        <p:nvSpPr>
          <p:cNvPr id="12" name="frame-224"/>
          <p:cNvSpPr/>
          <p:nvPr/>
        </p:nvSpPr>
        <p:spPr>
          <a:xfrm>
            <a:off x="6186830" y="2457664"/>
            <a:ext cx="2606040" cy="166835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3" name="screen-225" descr="화면: a-menu-expo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6830" y="2457664"/>
            <a:ext cx="2606040" cy="1668353"/>
          </a:xfrm>
          <a:prstGeom prst="rect">
            <a:avLst/>
          </a:prstGeom>
        </p:spPr>
      </p:pic>
      <p:sp>
        <p:nvSpPr>
          <p:cNvPr id="14" name="t-226"/>
          <p:cNvSpPr txBox="1"/>
          <p:nvPr/>
        </p:nvSpPr>
        <p:spPr>
          <a:xfrm>
            <a:off x="6186830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</a:t>
            </a:r>
            <a:endParaRPr lang="en-US" sz="1150" dirty="0"/>
          </a:p>
        </p:txBody>
      </p:sp>
      <p:sp>
        <p:nvSpPr>
          <p:cNvPr id="15" name="frame-227"/>
          <p:cNvSpPr/>
          <p:nvPr/>
        </p:nvSpPr>
        <p:spPr>
          <a:xfrm>
            <a:off x="9034391" y="1737360"/>
            <a:ext cx="2549109" cy="31089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6" name="screen-228" descr="화면: b-member-menu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4391" y="1737360"/>
            <a:ext cx="2549109" cy="3108960"/>
          </a:xfrm>
          <a:prstGeom prst="rect">
            <a:avLst/>
          </a:prstGeom>
        </p:spPr>
      </p:pic>
      <p:sp>
        <p:nvSpPr>
          <p:cNvPr id="17" name="t-229"/>
          <p:cNvSpPr txBox="1"/>
          <p:nvPr/>
        </p:nvSpPr>
        <p:spPr>
          <a:xfrm>
            <a:off x="9005926" y="4956048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</a:t>
            </a:r>
            <a:endParaRPr lang="en-US" sz="1150" dirty="0"/>
          </a:p>
        </p:txBody>
      </p:sp>
      <p:sp>
        <p:nvSpPr>
          <p:cNvPr id="18" name="note-230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9" name="notebar-231"/>
          <p:cNvSpPr/>
          <p:nvPr/>
        </p:nvSpPr>
        <p:spPr>
          <a:xfrm>
            <a:off x="548640" y="544068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0" name="t-232"/>
          <p:cNvSpPr txBox="1"/>
          <p:nvPr/>
        </p:nvSpPr>
        <p:spPr>
          <a:xfrm>
            <a:off x="77724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파일을 열면 내보내기 ▾에 「레퍼런스 번들」이, 관리자에게는 설정 ▾에 「계정 관리」가 더 보입니다.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23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파일 열기</a:t>
            </a:r>
            <a:endParaRPr lang="en-US" sz="3800" dirty="0"/>
          </a:p>
        </p:txBody>
      </p:sp>
      <p:sp>
        <p:nvSpPr>
          <p:cNvPr id="4" name="t-23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화면 · 견본 · 파일 목록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23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AASX를 올리거나, 새로 만들거나, 견본으로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올린 파일은 파일 목록에서 다시 엽니다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3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3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첫 화면 — 파일을 여는 네 가지 방법</a:t>
            </a:r>
            <a:endParaRPr lang="en-US" sz="2600" dirty="0"/>
          </a:p>
        </p:txBody>
      </p:sp>
      <p:sp>
        <p:nvSpPr>
          <p:cNvPr id="5" name="t-23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로그인하면 이 화면에서 시작합니다</a:t>
            </a:r>
            <a:endParaRPr lang="en-US" sz="1400" dirty="0"/>
          </a:p>
        </p:txBody>
      </p:sp>
      <p:sp>
        <p:nvSpPr>
          <p:cNvPr id="6" name="frame-239"/>
          <p:cNvSpPr/>
          <p:nvPr/>
        </p:nvSpPr>
        <p:spPr>
          <a:xfrm>
            <a:off x="548640" y="1906898"/>
            <a:ext cx="5852160" cy="276988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40" descr="화면: a-welcome-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6898"/>
            <a:ext cx="5852160" cy="2769884"/>
          </a:xfrm>
          <a:prstGeom prst="rect">
            <a:avLst/>
          </a:prstGeom>
        </p:spPr>
      </p:pic>
      <p:sp>
        <p:nvSpPr>
          <p:cNvPr id="8" name="mark-241"/>
          <p:cNvSpPr/>
          <p:nvPr/>
        </p:nvSpPr>
        <p:spPr>
          <a:xfrm>
            <a:off x="1453815" y="2812073"/>
            <a:ext cx="1553081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242"/>
          <p:cNvSpPr/>
          <p:nvPr/>
        </p:nvSpPr>
        <p:spPr>
          <a:xfrm>
            <a:off x="1307511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243"/>
          <p:cNvSpPr txBox="1"/>
          <p:nvPr/>
        </p:nvSpPr>
        <p:spPr>
          <a:xfrm>
            <a:off x="1307511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244"/>
          <p:cNvSpPr/>
          <p:nvPr/>
        </p:nvSpPr>
        <p:spPr>
          <a:xfrm>
            <a:off x="3015779" y="2812073"/>
            <a:ext cx="1313580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245"/>
          <p:cNvSpPr/>
          <p:nvPr/>
        </p:nvSpPr>
        <p:spPr>
          <a:xfrm>
            <a:off x="286947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246"/>
          <p:cNvSpPr txBox="1"/>
          <p:nvPr/>
        </p:nvSpPr>
        <p:spPr>
          <a:xfrm>
            <a:off x="286947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247"/>
          <p:cNvSpPr/>
          <p:nvPr/>
        </p:nvSpPr>
        <p:spPr>
          <a:xfrm>
            <a:off x="4327829" y="2812073"/>
            <a:ext cx="1167796" cy="522184"/>
          </a:xfrm>
          <a:prstGeom prst="roundRect">
            <a:avLst>
              <a:gd name="adj" fmla="val 70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248"/>
          <p:cNvSpPr/>
          <p:nvPr/>
        </p:nvSpPr>
        <p:spPr>
          <a:xfrm>
            <a:off x="4181525" y="266576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249"/>
          <p:cNvSpPr txBox="1"/>
          <p:nvPr/>
        </p:nvSpPr>
        <p:spPr>
          <a:xfrm>
            <a:off x="4181525" y="266576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250"/>
          <p:cNvSpPr/>
          <p:nvPr/>
        </p:nvSpPr>
        <p:spPr>
          <a:xfrm>
            <a:off x="3671804" y="3395206"/>
            <a:ext cx="1480189" cy="376401"/>
          </a:xfrm>
          <a:prstGeom prst="roundRect">
            <a:avLst>
              <a:gd name="adj" fmla="val 971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251"/>
          <p:cNvSpPr/>
          <p:nvPr/>
        </p:nvSpPr>
        <p:spPr>
          <a:xfrm>
            <a:off x="3525500" y="324890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252"/>
          <p:cNvSpPr txBox="1"/>
          <p:nvPr/>
        </p:nvSpPr>
        <p:spPr>
          <a:xfrm>
            <a:off x="3525500" y="324890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253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254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255"/>
          <p:cNvSpPr txBox="1"/>
          <p:nvPr/>
        </p:nvSpPr>
        <p:spPr>
          <a:xfrm>
            <a:off x="7242048" y="173736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파일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PC의 .aasx 파일을 올려 엽니다.</a:t>
            </a:r>
            <a:endParaRPr lang="en-US" sz="1500" dirty="0"/>
          </a:p>
        </p:txBody>
      </p:sp>
      <p:sp>
        <p:nvSpPr>
          <p:cNvPr id="23" name="step-256"/>
          <p:cNvSpPr/>
          <p:nvPr/>
        </p:nvSpPr>
        <p:spPr>
          <a:xfrm>
            <a:off x="6766560" y="2788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257"/>
          <p:cNvSpPr txBox="1"/>
          <p:nvPr/>
        </p:nvSpPr>
        <p:spPr>
          <a:xfrm>
            <a:off x="6766560" y="2788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258"/>
          <p:cNvSpPr txBox="1"/>
          <p:nvPr/>
        </p:nvSpPr>
        <p:spPr>
          <a:xfrm>
            <a:off x="7242048" y="274320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설비 또는 회사 · 공정 그룹을 만듭니다(4장).</a:t>
            </a:r>
            <a:endParaRPr lang="en-US" sz="1500" dirty="0"/>
          </a:p>
        </p:txBody>
      </p:sp>
      <p:sp>
        <p:nvSpPr>
          <p:cNvPr id="26" name="step-259"/>
          <p:cNvSpPr/>
          <p:nvPr/>
        </p:nvSpPr>
        <p:spPr>
          <a:xfrm>
            <a:off x="6766560" y="3794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260"/>
          <p:cNvSpPr txBox="1"/>
          <p:nvPr/>
        </p:nvSpPr>
        <p:spPr>
          <a:xfrm>
            <a:off x="676656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261"/>
          <p:cNvSpPr txBox="1"/>
          <p:nvPr/>
        </p:nvSpPr>
        <p:spPr>
          <a:xfrm>
            <a:off x="7242048" y="374904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번들 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도구에서 내보낸 레퍼런스 번들(.zip)을 엽니다.</a:t>
            </a:r>
            <a:endParaRPr lang="en-US" sz="1500" dirty="0"/>
          </a:p>
        </p:txBody>
      </p:sp>
      <p:sp>
        <p:nvSpPr>
          <p:cNvPr id="29" name="step-262"/>
          <p:cNvSpPr/>
          <p:nvPr/>
        </p:nvSpPr>
        <p:spPr>
          <a:xfrm>
            <a:off x="676656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263"/>
          <p:cNvSpPr txBox="1"/>
          <p:nvPr/>
        </p:nvSpPr>
        <p:spPr>
          <a:xfrm>
            <a:off x="676656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264"/>
          <p:cNvSpPr txBox="1"/>
          <p:nvPr/>
        </p:nvSpPr>
        <p:spPr>
          <a:xfrm>
            <a:off x="7242048" y="4754880"/>
            <a:ext cx="43708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견본으로 시작하기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내용이 채워진 연습용 견본을 엽니다(회원).</a:t>
            </a:r>
            <a:endParaRPr lang="en-US" sz="1500" dirty="0"/>
          </a:p>
        </p:txBody>
      </p:sp>
      <p:sp>
        <p:nvSpPr>
          <p:cNvPr id="32" name="note-265"/>
          <p:cNvSpPr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266"/>
          <p:cNvSpPr/>
          <p:nvPr/>
        </p:nvSpPr>
        <p:spPr>
          <a:xfrm>
            <a:off x="548640" y="534924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267"/>
          <p:cNvSpPr txBox="1"/>
          <p:nvPr/>
        </p:nvSpPr>
        <p:spPr>
          <a:xfrm>
            <a:off x="777240" y="53492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파일을 다시 올리면 사본이 하나 더 생깁니다. 작업하던 파일은 「파일 ▾ → 파일 목록」에서 고르세요.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6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26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견본으로 시작하기</a:t>
            </a:r>
            <a:endParaRPr lang="en-US" sz="2600" dirty="0"/>
          </a:p>
        </p:txBody>
      </p:sp>
      <p:sp>
        <p:nvSpPr>
          <p:cNvPr id="5" name="t-27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채워진 설비 1종과 공정 구성을 열어 둘러봅니다</a:t>
            </a:r>
            <a:endParaRPr lang="en-US" sz="1400" dirty="0"/>
          </a:p>
        </p:txBody>
      </p:sp>
      <p:sp>
        <p:nvSpPr>
          <p:cNvPr id="6" name="frame-271"/>
          <p:cNvSpPr/>
          <p:nvPr/>
        </p:nvSpPr>
        <p:spPr>
          <a:xfrm>
            <a:off x="548640" y="1645920"/>
            <a:ext cx="73152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272" descr="화면: a-sa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7315200" cy="4114800"/>
          </a:xfrm>
          <a:prstGeom prst="rect">
            <a:avLst/>
          </a:prstGeom>
        </p:spPr>
      </p:pic>
      <p:sp>
        <p:nvSpPr>
          <p:cNvPr id="8" name="mark-273"/>
          <p:cNvSpPr/>
          <p:nvPr/>
        </p:nvSpPr>
        <p:spPr>
          <a:xfrm>
            <a:off x="1906524" y="1664208"/>
            <a:ext cx="1252728" cy="192024"/>
          </a:xfrm>
          <a:prstGeom prst="roundRect">
            <a:avLst>
              <a:gd name="adj" fmla="val 1904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274"/>
          <p:cNvSpPr/>
          <p:nvPr/>
        </p:nvSpPr>
        <p:spPr>
          <a:xfrm>
            <a:off x="1760220" y="151790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275"/>
          <p:cNvSpPr txBox="1"/>
          <p:nvPr/>
        </p:nvSpPr>
        <p:spPr>
          <a:xfrm>
            <a:off x="1760220" y="15179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276"/>
          <p:cNvSpPr/>
          <p:nvPr/>
        </p:nvSpPr>
        <p:spPr>
          <a:xfrm>
            <a:off x="566928" y="2212848"/>
            <a:ext cx="1659636" cy="3529584"/>
          </a:xfrm>
          <a:prstGeom prst="roundRect">
            <a:avLst>
              <a:gd name="adj" fmla="val 22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277"/>
          <p:cNvSpPr/>
          <p:nvPr/>
        </p:nvSpPr>
        <p:spPr>
          <a:xfrm>
            <a:off x="420624" y="20665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278"/>
          <p:cNvSpPr txBox="1"/>
          <p:nvPr/>
        </p:nvSpPr>
        <p:spPr>
          <a:xfrm>
            <a:off x="420624" y="2066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279"/>
          <p:cNvSpPr/>
          <p:nvPr/>
        </p:nvSpPr>
        <p:spPr>
          <a:xfrm>
            <a:off x="3470148" y="3707892"/>
            <a:ext cx="2167128" cy="141732"/>
          </a:xfrm>
          <a:prstGeom prst="roundRect">
            <a:avLst>
              <a:gd name="adj" fmla="val 2580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280"/>
          <p:cNvSpPr/>
          <p:nvPr/>
        </p:nvSpPr>
        <p:spPr>
          <a:xfrm>
            <a:off x="3323844" y="3561588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281"/>
          <p:cNvSpPr txBox="1"/>
          <p:nvPr/>
        </p:nvSpPr>
        <p:spPr>
          <a:xfrm>
            <a:off x="3323844" y="35615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282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283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284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파일이 먼저 열립니다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RB01 공정 → 성형공정 → 롤포밍기 ×2</a:t>
            </a:r>
            <a:endParaRPr lang="en-US" sz="1400" dirty="0"/>
          </a:p>
        </p:txBody>
      </p:sp>
      <p:sp>
        <p:nvSpPr>
          <p:cNvPr id="20" name="step-285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286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287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트리에서 구성을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· 공정 · 설비가 한 트리로 보입니다.</a:t>
            </a:r>
            <a:endParaRPr lang="en-US" sz="1400" dirty="0"/>
          </a:p>
        </p:txBody>
      </p:sp>
      <p:sp>
        <p:nvSpPr>
          <p:cNvPr id="23" name="step-288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289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290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설비를 누르면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파일(RollFormingMachine_sample)이 열립니다. 자유롭게 고쳐 보세요.</a:t>
            </a:r>
            <a:endParaRPr lang="en-US" sz="1400" dirty="0"/>
          </a:p>
        </p:txBody>
      </p:sp>
      <p:sp>
        <p:nvSpPr>
          <p:cNvPr id="26" name="frame-291"/>
          <p:cNvSpPr/>
          <p:nvPr/>
        </p:nvSpPr>
        <p:spPr>
          <a:xfrm>
            <a:off x="548640" y="5833872"/>
            <a:ext cx="4303059" cy="4572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27" name="screen-292" descr="화면: b-demo-sample-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833872"/>
            <a:ext cx="4303059" cy="457200"/>
          </a:xfrm>
          <a:prstGeom prst="rect">
            <a:avLst/>
          </a:prstGeom>
        </p:spPr>
      </p:pic>
      <p:sp>
        <p:nvSpPr>
          <p:cNvPr id="28" name="mark-293"/>
          <p:cNvSpPr/>
          <p:nvPr/>
        </p:nvSpPr>
        <p:spPr>
          <a:xfrm>
            <a:off x="566928" y="6046604"/>
            <a:ext cx="4266483" cy="179653"/>
          </a:xfrm>
          <a:prstGeom prst="roundRect">
            <a:avLst>
              <a:gd name="adj" fmla="val 203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9" name="markdot-294"/>
          <p:cNvSpPr/>
          <p:nvPr/>
        </p:nvSpPr>
        <p:spPr>
          <a:xfrm>
            <a:off x="420624" y="59003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-295"/>
          <p:cNvSpPr txBox="1"/>
          <p:nvPr/>
        </p:nvSpPr>
        <p:spPr>
          <a:xfrm>
            <a:off x="420624" y="59003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note-296"/>
          <p:cNvSpPr/>
          <p:nvPr/>
        </p:nvSpPr>
        <p:spPr>
          <a:xfrm>
            <a:off x="8183880" y="5669280"/>
            <a:ext cx="3474720" cy="59436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2" name="notebar-297"/>
          <p:cNvSpPr/>
          <p:nvPr/>
        </p:nvSpPr>
        <p:spPr>
          <a:xfrm>
            <a:off x="8183880" y="5669280"/>
            <a:ext cx="64008" cy="5943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-298"/>
          <p:cNvSpPr txBox="1"/>
          <p:nvPr/>
        </p:nvSpPr>
        <p:spPr>
          <a:xfrm>
            <a:off x="8412480" y="56692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견본은 회원가입 후 사용할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29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0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파일 목록</a:t>
            </a:r>
            <a:endParaRPr lang="en-US" sz="2600" dirty="0"/>
          </a:p>
        </p:txBody>
      </p:sp>
      <p:sp>
        <p:nvSpPr>
          <p:cNvPr id="5" name="t-30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올려 둔 파일을 한눈에 보고 정리합니다</a:t>
            </a:r>
            <a:endParaRPr lang="en-US" sz="1400" dirty="0"/>
          </a:p>
        </p:txBody>
      </p:sp>
      <p:sp>
        <p:nvSpPr>
          <p:cNvPr id="6" name="frame-302"/>
          <p:cNvSpPr/>
          <p:nvPr/>
        </p:nvSpPr>
        <p:spPr>
          <a:xfrm>
            <a:off x="548640" y="2033023"/>
            <a:ext cx="6766560" cy="2060434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03" descr="화면: a-f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33023"/>
            <a:ext cx="6766560" cy="2060434"/>
          </a:xfrm>
          <a:prstGeom prst="rect">
            <a:avLst/>
          </a:prstGeom>
        </p:spPr>
      </p:pic>
      <p:sp>
        <p:nvSpPr>
          <p:cNvPr id="8" name="mark-304"/>
          <p:cNvSpPr/>
          <p:nvPr/>
        </p:nvSpPr>
        <p:spPr>
          <a:xfrm>
            <a:off x="717067" y="2706537"/>
            <a:ext cx="168232" cy="168232"/>
          </a:xfrm>
          <a:prstGeom prst="roundRect">
            <a:avLst>
              <a:gd name="adj" fmla="val 2174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05"/>
          <p:cNvSpPr/>
          <p:nvPr/>
        </p:nvSpPr>
        <p:spPr>
          <a:xfrm>
            <a:off x="570763" y="25602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06"/>
          <p:cNvSpPr txBox="1"/>
          <p:nvPr/>
        </p:nvSpPr>
        <p:spPr>
          <a:xfrm>
            <a:off x="570763" y="25602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07"/>
          <p:cNvSpPr/>
          <p:nvPr/>
        </p:nvSpPr>
        <p:spPr>
          <a:xfrm>
            <a:off x="717067" y="3644556"/>
            <a:ext cx="6429705" cy="320560"/>
          </a:xfrm>
          <a:prstGeom prst="roundRect">
            <a:avLst>
              <a:gd name="adj" fmla="val 1141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08"/>
          <p:cNvSpPr/>
          <p:nvPr/>
        </p:nvSpPr>
        <p:spPr>
          <a:xfrm>
            <a:off x="570763" y="349825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09"/>
          <p:cNvSpPr txBox="1"/>
          <p:nvPr/>
        </p:nvSpPr>
        <p:spPr>
          <a:xfrm>
            <a:off x="570763" y="34982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tep-310"/>
          <p:cNvSpPr/>
          <p:nvPr/>
        </p:nvSpPr>
        <p:spPr>
          <a:xfrm>
            <a:off x="76809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311"/>
          <p:cNvSpPr txBox="1"/>
          <p:nvPr/>
        </p:nvSpPr>
        <p:spPr>
          <a:xfrm>
            <a:off x="76809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312"/>
          <p:cNvSpPr txBox="1"/>
          <p:nvPr/>
        </p:nvSpPr>
        <p:spPr>
          <a:xfrm>
            <a:off x="8156448" y="173736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파일 목록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이름을 누르면 바로 열립니다. 체크해서 여러 개를 고를 수 있습니다.</a:t>
            </a:r>
            <a:endParaRPr lang="en-US" sz="1500" dirty="0"/>
          </a:p>
        </p:txBody>
      </p:sp>
      <p:sp>
        <p:nvSpPr>
          <p:cNvPr id="17" name="step-313"/>
          <p:cNvSpPr/>
          <p:nvPr/>
        </p:nvSpPr>
        <p:spPr>
          <a:xfrm>
            <a:off x="768096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314"/>
          <p:cNvSpPr txBox="1"/>
          <p:nvPr/>
        </p:nvSpPr>
        <p:spPr>
          <a:xfrm>
            <a:off x="768096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315"/>
          <p:cNvSpPr txBox="1"/>
          <p:nvPr/>
        </p:nvSpPr>
        <p:spPr>
          <a:xfrm>
            <a:off x="8156448" y="3063240"/>
            <a:ext cx="34564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고른 파일 지우기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서버에서 지웁니다. 되돌릴 수 없으니 필요한 파일은 먼저 내려받으세요.</a:t>
            </a:r>
            <a:endParaRPr lang="en-US" sz="1500" dirty="0"/>
          </a:p>
        </p:txBody>
      </p:sp>
      <p:sp>
        <p:nvSpPr>
          <p:cNvPr id="20" name="note-316"/>
          <p:cNvSpPr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1" name="notebar-317"/>
          <p:cNvSpPr/>
          <p:nvPr/>
        </p:nvSpPr>
        <p:spPr>
          <a:xfrm>
            <a:off x="548640" y="47548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2" name="t-318"/>
          <p:cNvSpPr txBox="1"/>
          <p:nvPr/>
        </p:nvSpPr>
        <p:spPr>
          <a:xfrm>
            <a:off x="777240" y="47548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삭제한 파일은 복구할 수 없습니다. 이미 내려받은 .aasx 파일은 내 PC에 그대로 남습니다.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319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만들고 고치기</a:t>
            </a:r>
            <a:endParaRPr lang="en-US" sz="3800" dirty="0"/>
          </a:p>
        </p:txBody>
      </p:sp>
      <p:sp>
        <p:nvSpPr>
          <p:cNvPr id="4" name="t-320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· 값 고치기 · 가져오기 · 이력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321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서브모델이 갖춰진 뼈대로 시작합니다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하나씩 또는 표로 한꺼번에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견본에서 서브모델을 통째로 가져오면 빠릅니다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2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2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새로 만들기</a:t>
            </a:r>
            <a:endParaRPr lang="en-US" sz="2600" dirty="0"/>
          </a:p>
        </p:txBody>
      </p:sp>
      <p:sp>
        <p:nvSpPr>
          <p:cNvPr id="5" name="t-32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▾ → 새로 만들기</a:t>
            </a:r>
            <a:endParaRPr lang="en-US" sz="1400" dirty="0"/>
          </a:p>
        </p:txBody>
      </p:sp>
      <p:sp>
        <p:nvSpPr>
          <p:cNvPr id="6" name="frame-325"/>
          <p:cNvSpPr/>
          <p:nvPr/>
        </p:nvSpPr>
        <p:spPr>
          <a:xfrm>
            <a:off x="1054977" y="1645920"/>
            <a:ext cx="502236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26" descr="화면: a-n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977" y="1645920"/>
            <a:ext cx="5022366" cy="4617720"/>
          </a:xfrm>
          <a:prstGeom prst="rect">
            <a:avLst/>
          </a:prstGeom>
        </p:spPr>
      </p:pic>
      <p:sp>
        <p:nvSpPr>
          <p:cNvPr id="8" name="mark-327"/>
          <p:cNvSpPr/>
          <p:nvPr/>
        </p:nvSpPr>
        <p:spPr>
          <a:xfrm>
            <a:off x="1141987" y="1899548"/>
            <a:ext cx="4848347" cy="254429"/>
          </a:xfrm>
          <a:prstGeom prst="roundRect">
            <a:avLst>
              <a:gd name="adj" fmla="val 14376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28"/>
          <p:cNvSpPr/>
          <p:nvPr/>
        </p:nvSpPr>
        <p:spPr>
          <a:xfrm>
            <a:off x="995683" y="175324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29"/>
          <p:cNvSpPr txBox="1"/>
          <p:nvPr/>
        </p:nvSpPr>
        <p:spPr>
          <a:xfrm>
            <a:off x="995683" y="17532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30"/>
          <p:cNvSpPr/>
          <p:nvPr/>
        </p:nvSpPr>
        <p:spPr>
          <a:xfrm>
            <a:off x="1141987" y="2649333"/>
            <a:ext cx="4848347" cy="242528"/>
          </a:xfrm>
          <a:prstGeom prst="roundRect">
            <a:avLst>
              <a:gd name="adj" fmla="val 1508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31"/>
          <p:cNvSpPr/>
          <p:nvPr/>
        </p:nvSpPr>
        <p:spPr>
          <a:xfrm>
            <a:off x="995683" y="250302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32"/>
          <p:cNvSpPr txBox="1"/>
          <p:nvPr/>
        </p:nvSpPr>
        <p:spPr>
          <a:xfrm>
            <a:off x="995683" y="250302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33"/>
          <p:cNvSpPr/>
          <p:nvPr/>
        </p:nvSpPr>
        <p:spPr>
          <a:xfrm>
            <a:off x="1219345" y="3143238"/>
            <a:ext cx="4693629" cy="641223"/>
          </a:xfrm>
          <a:prstGeom prst="roundRect">
            <a:avLst>
              <a:gd name="adj" fmla="val 570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34"/>
          <p:cNvSpPr/>
          <p:nvPr/>
        </p:nvSpPr>
        <p:spPr>
          <a:xfrm>
            <a:off x="1073041" y="2996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35"/>
          <p:cNvSpPr txBox="1"/>
          <p:nvPr/>
        </p:nvSpPr>
        <p:spPr>
          <a:xfrm>
            <a:off x="1073041" y="2996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mark-336"/>
          <p:cNvSpPr/>
          <p:nvPr/>
        </p:nvSpPr>
        <p:spPr>
          <a:xfrm>
            <a:off x="1219345" y="3958480"/>
            <a:ext cx="4693629" cy="1087523"/>
          </a:xfrm>
          <a:prstGeom prst="roundRect">
            <a:avLst>
              <a:gd name="adj" fmla="val 33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8" name="markdot-337"/>
          <p:cNvSpPr/>
          <p:nvPr/>
        </p:nvSpPr>
        <p:spPr>
          <a:xfrm>
            <a:off x="1073041" y="381217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-338"/>
          <p:cNvSpPr txBox="1"/>
          <p:nvPr/>
        </p:nvSpPr>
        <p:spPr>
          <a:xfrm>
            <a:off x="1073041" y="3812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tep-339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340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-341"/>
          <p:cNvSpPr txBox="1"/>
          <p:nvPr/>
        </p:nvSpPr>
        <p:spPr>
          <a:xfrm>
            <a:off x="7424928" y="173736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종류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설비(한 대) 또는 그룹(회사 · 공정)</a:t>
            </a:r>
            <a:endParaRPr lang="en-US" sz="1500" dirty="0"/>
          </a:p>
        </p:txBody>
      </p:sp>
      <p:sp>
        <p:nvSpPr>
          <p:cNvPr id="23" name="step-342"/>
          <p:cNvSpPr/>
          <p:nvPr/>
        </p:nvSpPr>
        <p:spPr>
          <a:xfrm>
            <a:off x="6949440" y="2834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343"/>
          <p:cNvSpPr txBox="1"/>
          <p:nvPr/>
        </p:nvSpPr>
        <p:spPr>
          <a:xfrm>
            <a:off x="6949440" y="2834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-344"/>
          <p:cNvSpPr txBox="1"/>
          <p:nvPr/>
        </p:nvSpPr>
        <p:spPr>
          <a:xfrm>
            <a:off x="7424928" y="278892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이름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영문으로 시작하고 영문 · 숫자 · 밑줄만 씁니다. 이 이름이 id에 들어갑니다.</a:t>
            </a:r>
            <a:endParaRPr lang="en-US" sz="1500" dirty="0"/>
          </a:p>
        </p:txBody>
      </p:sp>
      <p:sp>
        <p:nvSpPr>
          <p:cNvPr id="26" name="step-345"/>
          <p:cNvSpPr/>
          <p:nvPr/>
        </p:nvSpPr>
        <p:spPr>
          <a:xfrm>
            <a:off x="6949440" y="38862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t-346"/>
          <p:cNvSpPr txBox="1"/>
          <p:nvPr/>
        </p:nvSpPr>
        <p:spPr>
          <a:xfrm>
            <a:off x="6949440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-347"/>
          <p:cNvSpPr txBox="1"/>
          <p:nvPr/>
        </p:nvSpPr>
        <p:spPr>
          <a:xfrm>
            <a:off x="7424928" y="384048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서브모델 4종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 · 인계 문서 · 기술 사양 · 운전 데이터 — 자동으로 들어갑니다.</a:t>
            </a:r>
            <a:endParaRPr lang="en-US" sz="1500" dirty="0"/>
          </a:p>
        </p:txBody>
      </p:sp>
      <p:sp>
        <p:nvSpPr>
          <p:cNvPr id="29" name="step-348"/>
          <p:cNvSpPr/>
          <p:nvPr/>
        </p:nvSpPr>
        <p:spPr>
          <a:xfrm>
            <a:off x="6949440" y="49377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0" name="t-349"/>
          <p:cNvSpPr txBox="1"/>
          <p:nvPr/>
        </p:nvSpPr>
        <p:spPr>
          <a:xfrm>
            <a:off x="6949440" y="4937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-350"/>
          <p:cNvSpPr txBox="1"/>
          <p:nvPr/>
        </p:nvSpPr>
        <p:spPr>
          <a:xfrm>
            <a:off x="7424928" y="4892040"/>
            <a:ext cx="4187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것만 체크합니다. 만든 뒤에도 추가할 수 있습니다.</a:t>
            </a:r>
            <a:endParaRPr lang="en-US" sz="1500" dirty="0"/>
          </a:p>
        </p:txBody>
      </p:sp>
      <p:sp>
        <p:nvSpPr>
          <p:cNvPr id="32" name="note-351"/>
          <p:cNvSpPr/>
          <p:nvPr/>
        </p:nvSpPr>
        <p:spPr>
          <a:xfrm>
            <a:off x="6949440" y="5623560"/>
            <a:ext cx="4663440" cy="64008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3" name="notebar-352"/>
          <p:cNvSpPr/>
          <p:nvPr/>
        </p:nvSpPr>
        <p:spPr>
          <a:xfrm>
            <a:off x="6949440" y="5623560"/>
            <a:ext cx="64008" cy="64008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4" name="t-353"/>
          <p:cNvSpPr txBox="1"/>
          <p:nvPr/>
        </p:nvSpPr>
        <p:spPr>
          <a:xfrm>
            <a:off x="7178040" y="5623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서브모델은 비어 있는 상태로 만들어집니다. 「다른 파일에서 가져오기」로 채우면 빠릅니다.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5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5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고치기</a:t>
            </a:r>
            <a:endParaRPr lang="en-US" sz="2600" dirty="0"/>
          </a:p>
        </p:txBody>
      </p:sp>
      <p:sp>
        <p:nvSpPr>
          <p:cNvPr id="5" name="t-35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트리에서 요소를 고르면 가운데에서 고칠 수 있습니다</a:t>
            </a:r>
            <a:endParaRPr lang="en-US" sz="1400" dirty="0"/>
          </a:p>
        </p:txBody>
      </p:sp>
      <p:sp>
        <p:nvSpPr>
          <p:cNvPr id="6" name="frame-357"/>
          <p:cNvSpPr/>
          <p:nvPr/>
        </p:nvSpPr>
        <p:spPr>
          <a:xfrm>
            <a:off x="792242" y="1645920"/>
            <a:ext cx="2164556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58" descr="화면: a-tr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2242" y="1645920"/>
            <a:ext cx="2164556" cy="4617720"/>
          </a:xfrm>
          <a:prstGeom prst="rect">
            <a:avLst/>
          </a:prstGeom>
        </p:spPr>
      </p:pic>
      <p:sp>
        <p:nvSpPr>
          <p:cNvPr id="8" name="frame-359"/>
          <p:cNvSpPr/>
          <p:nvPr/>
        </p:nvSpPr>
        <p:spPr>
          <a:xfrm>
            <a:off x="3429000" y="2285669"/>
            <a:ext cx="4023360" cy="3338223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360" descr="화면: a-eleme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2285669"/>
            <a:ext cx="4023360" cy="3338223"/>
          </a:xfrm>
          <a:prstGeom prst="rect">
            <a:avLst/>
          </a:prstGeom>
        </p:spPr>
      </p:pic>
      <p:sp>
        <p:nvSpPr>
          <p:cNvPr id="10" name="mark-361"/>
          <p:cNvSpPr/>
          <p:nvPr/>
        </p:nvSpPr>
        <p:spPr>
          <a:xfrm>
            <a:off x="3455306" y="3288659"/>
            <a:ext cx="3970749" cy="428443"/>
          </a:xfrm>
          <a:prstGeom prst="roundRect">
            <a:avLst>
              <a:gd name="adj" fmla="val 853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1" name="markdot-362"/>
          <p:cNvSpPr/>
          <p:nvPr/>
        </p:nvSpPr>
        <p:spPr>
          <a:xfrm>
            <a:off x="3309002" y="314235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-363"/>
          <p:cNvSpPr txBox="1"/>
          <p:nvPr/>
        </p:nvSpPr>
        <p:spPr>
          <a:xfrm>
            <a:off x="3309002" y="314235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mark-364"/>
          <p:cNvSpPr/>
          <p:nvPr/>
        </p:nvSpPr>
        <p:spPr>
          <a:xfrm>
            <a:off x="3455306" y="3682249"/>
            <a:ext cx="423584" cy="229218"/>
          </a:xfrm>
          <a:prstGeom prst="roundRect">
            <a:avLst>
              <a:gd name="adj" fmla="val 15957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4" name="markdot-365"/>
          <p:cNvSpPr/>
          <p:nvPr/>
        </p:nvSpPr>
        <p:spPr>
          <a:xfrm>
            <a:off x="3309002" y="353594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-366"/>
          <p:cNvSpPr txBox="1"/>
          <p:nvPr/>
        </p:nvSpPr>
        <p:spPr>
          <a:xfrm>
            <a:off x="3309002" y="353594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mark-367"/>
          <p:cNvSpPr/>
          <p:nvPr/>
        </p:nvSpPr>
        <p:spPr>
          <a:xfrm>
            <a:off x="3455306" y="4270204"/>
            <a:ext cx="530485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368"/>
          <p:cNvSpPr/>
          <p:nvPr/>
        </p:nvSpPr>
        <p:spPr>
          <a:xfrm>
            <a:off x="3309002" y="412390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369"/>
          <p:cNvSpPr txBox="1"/>
          <p:nvPr/>
        </p:nvSpPr>
        <p:spPr>
          <a:xfrm>
            <a:off x="3309002" y="41239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370"/>
          <p:cNvSpPr/>
          <p:nvPr/>
        </p:nvSpPr>
        <p:spPr>
          <a:xfrm>
            <a:off x="3455306" y="4969919"/>
            <a:ext cx="651963" cy="219500"/>
          </a:xfrm>
          <a:prstGeom prst="roundRect">
            <a:avLst>
              <a:gd name="adj" fmla="val 1666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371"/>
          <p:cNvSpPr/>
          <p:nvPr/>
        </p:nvSpPr>
        <p:spPr>
          <a:xfrm>
            <a:off x="3309002" y="482361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372"/>
          <p:cNvSpPr txBox="1"/>
          <p:nvPr/>
        </p:nvSpPr>
        <p:spPr>
          <a:xfrm>
            <a:off x="3309002" y="482361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step-373"/>
          <p:cNvSpPr/>
          <p:nvPr/>
        </p:nvSpPr>
        <p:spPr>
          <a:xfrm>
            <a:off x="77724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-374"/>
          <p:cNvSpPr txBox="1"/>
          <p:nvPr/>
        </p:nvSpPr>
        <p:spPr>
          <a:xfrm>
            <a:off x="77724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-375"/>
          <p:cNvSpPr txBox="1"/>
          <p:nvPr/>
        </p:nvSpPr>
        <p:spPr>
          <a:xfrm>
            <a:off x="8247888" y="173736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입력 후 「저장」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자료형에 맞지 않으면 바로 알려 줍니다.</a:t>
            </a:r>
            <a:endParaRPr lang="en-US" sz="1400" dirty="0"/>
          </a:p>
        </p:txBody>
      </p:sp>
      <p:sp>
        <p:nvSpPr>
          <p:cNvPr id="25" name="step-376"/>
          <p:cNvSpPr/>
          <p:nvPr/>
        </p:nvSpPr>
        <p:spPr>
          <a:xfrm>
            <a:off x="7772400" y="2880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377"/>
          <p:cNvSpPr txBox="1"/>
          <p:nvPr/>
        </p:nvSpPr>
        <p:spPr>
          <a:xfrm>
            <a:off x="777240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-378"/>
          <p:cNvSpPr txBox="1"/>
          <p:nvPr/>
        </p:nvSpPr>
        <p:spPr>
          <a:xfrm>
            <a:off x="8247888" y="283464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저장하면 서버에 바로 반영됩니다.</a:t>
            </a:r>
            <a:endParaRPr lang="en-US" sz="1400" dirty="0"/>
          </a:p>
        </p:txBody>
      </p:sp>
      <p:sp>
        <p:nvSpPr>
          <p:cNvPr id="28" name="step-379"/>
          <p:cNvSpPr/>
          <p:nvPr/>
        </p:nvSpPr>
        <p:spPr>
          <a:xfrm>
            <a:off x="7772400" y="39776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380"/>
          <p:cNvSpPr txBox="1"/>
          <p:nvPr/>
        </p:nvSpPr>
        <p:spPr>
          <a:xfrm>
            <a:off x="7772400" y="39776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-381"/>
          <p:cNvSpPr txBox="1"/>
          <p:nvPr/>
        </p:nvSpPr>
        <p:spPr>
          <a:xfrm>
            <a:off x="8247888" y="393192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이름(idShort) 바꾸기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요소가 이 이름을 참조하고 있으면 함께 바뀌지 않으니 주의하세요.</a:t>
            </a:r>
            <a:endParaRPr lang="en-US" sz="1400" dirty="0"/>
          </a:p>
        </p:txBody>
      </p:sp>
      <p:sp>
        <p:nvSpPr>
          <p:cNvPr id="31" name="step-382"/>
          <p:cNvSpPr/>
          <p:nvPr/>
        </p:nvSpPr>
        <p:spPr>
          <a:xfrm>
            <a:off x="777240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383"/>
          <p:cNvSpPr txBox="1"/>
          <p:nvPr/>
        </p:nvSpPr>
        <p:spPr>
          <a:xfrm>
            <a:off x="777240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-384"/>
          <p:cNvSpPr txBox="1"/>
          <p:nvPr/>
        </p:nvSpPr>
        <p:spPr>
          <a:xfrm>
            <a:off x="8247888" y="5029200"/>
            <a:ext cx="33649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semanticId 저장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의미를 나타내는 주소입니다. 규약에 맞는지 바로 표시됩니다.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385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386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값 한꺼번에 입력</a:t>
            </a:r>
            <a:endParaRPr lang="en-US" sz="2600" dirty="0"/>
          </a:p>
        </p:txBody>
      </p:sp>
      <p:sp>
        <p:nvSpPr>
          <p:cNvPr id="5" name="t-387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명판처럼 칸이 많을 때는 표에서 한 번에 고칩니다</a:t>
            </a:r>
            <a:endParaRPr lang="en-US" sz="1400" dirty="0"/>
          </a:p>
        </p:txBody>
      </p:sp>
      <p:sp>
        <p:nvSpPr>
          <p:cNvPr id="6" name="frame-388"/>
          <p:cNvSpPr/>
          <p:nvPr/>
        </p:nvSpPr>
        <p:spPr>
          <a:xfrm>
            <a:off x="985480" y="1645920"/>
            <a:ext cx="4978479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389" descr="화면: a-bul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480" y="1645920"/>
            <a:ext cx="4978479" cy="4617720"/>
          </a:xfrm>
          <a:prstGeom prst="rect">
            <a:avLst/>
          </a:prstGeom>
        </p:spPr>
      </p:pic>
      <p:sp>
        <p:nvSpPr>
          <p:cNvPr id="8" name="mark-390"/>
          <p:cNvSpPr/>
          <p:nvPr/>
        </p:nvSpPr>
        <p:spPr>
          <a:xfrm>
            <a:off x="1025628" y="2942713"/>
            <a:ext cx="4898184" cy="184261"/>
          </a:xfrm>
          <a:prstGeom prst="roundRect">
            <a:avLst>
              <a:gd name="adj" fmla="val 1985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391"/>
          <p:cNvSpPr/>
          <p:nvPr/>
        </p:nvSpPr>
        <p:spPr>
          <a:xfrm>
            <a:off x="879324" y="279640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392"/>
          <p:cNvSpPr txBox="1"/>
          <p:nvPr/>
        </p:nvSpPr>
        <p:spPr>
          <a:xfrm>
            <a:off x="879324" y="279640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393"/>
          <p:cNvSpPr/>
          <p:nvPr/>
        </p:nvSpPr>
        <p:spPr>
          <a:xfrm>
            <a:off x="1025628" y="3111067"/>
            <a:ext cx="4898184" cy="2559260"/>
          </a:xfrm>
          <a:prstGeom prst="roundRect">
            <a:avLst>
              <a:gd name="adj" fmla="val 142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394"/>
          <p:cNvSpPr/>
          <p:nvPr/>
        </p:nvSpPr>
        <p:spPr>
          <a:xfrm>
            <a:off x="879324" y="296476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395"/>
          <p:cNvSpPr txBox="1"/>
          <p:nvPr/>
        </p:nvSpPr>
        <p:spPr>
          <a:xfrm>
            <a:off x="879324" y="296476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396"/>
          <p:cNvSpPr/>
          <p:nvPr/>
        </p:nvSpPr>
        <p:spPr>
          <a:xfrm>
            <a:off x="1025628" y="5666446"/>
            <a:ext cx="364641" cy="256413"/>
          </a:xfrm>
          <a:prstGeom prst="roundRect">
            <a:avLst>
              <a:gd name="adj" fmla="val 142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397"/>
          <p:cNvSpPr/>
          <p:nvPr/>
        </p:nvSpPr>
        <p:spPr>
          <a:xfrm>
            <a:off x="879324" y="552014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398"/>
          <p:cNvSpPr txBox="1"/>
          <p:nvPr/>
        </p:nvSpPr>
        <p:spPr>
          <a:xfrm>
            <a:off x="879324" y="55201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399"/>
          <p:cNvSpPr/>
          <p:nvPr/>
        </p:nvSpPr>
        <p:spPr>
          <a:xfrm>
            <a:off x="676656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00"/>
          <p:cNvSpPr txBox="1"/>
          <p:nvPr/>
        </p:nvSpPr>
        <p:spPr>
          <a:xfrm>
            <a:off x="676656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01"/>
          <p:cNvSpPr txBox="1"/>
          <p:nvPr/>
        </p:nvSpPr>
        <p:spPr>
          <a:xfrm>
            <a:off x="7242048" y="173736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고르기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DigitalNameplate — 「값 한꺼번에 입력」 표가 나옵니다.</a:t>
            </a:r>
            <a:endParaRPr lang="en-US" sz="1500" dirty="0"/>
          </a:p>
        </p:txBody>
      </p:sp>
      <p:sp>
        <p:nvSpPr>
          <p:cNvPr id="20" name="step-402"/>
          <p:cNvSpPr/>
          <p:nvPr/>
        </p:nvSpPr>
        <p:spPr>
          <a:xfrm>
            <a:off x="676656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03"/>
          <p:cNvSpPr txBox="1"/>
          <p:nvPr/>
        </p:nvSpPr>
        <p:spPr>
          <a:xfrm>
            <a:off x="676656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04"/>
          <p:cNvSpPr txBox="1"/>
          <p:nvPr/>
        </p:nvSpPr>
        <p:spPr>
          <a:xfrm>
            <a:off x="7242048" y="297180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표에서 값 고치기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Property · 다국어 첫 언어 · Range(최소~최대)를 고칠 수 있습니다.</a:t>
            </a:r>
            <a:endParaRPr lang="en-US" sz="1500" dirty="0"/>
          </a:p>
        </p:txBody>
      </p:sp>
      <p:sp>
        <p:nvSpPr>
          <p:cNvPr id="23" name="step-405"/>
          <p:cNvSpPr/>
          <p:nvPr/>
        </p:nvSpPr>
        <p:spPr>
          <a:xfrm>
            <a:off x="676656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06"/>
          <p:cNvSpPr txBox="1"/>
          <p:nvPr/>
        </p:nvSpPr>
        <p:spPr>
          <a:xfrm>
            <a:off x="676656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07"/>
          <p:cNvSpPr txBox="1"/>
          <p:nvPr/>
        </p:nvSpPr>
        <p:spPr>
          <a:xfrm>
            <a:off x="7242048" y="4206240"/>
            <a:ext cx="4370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저장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요소를 하나씩 열지 않아도 됩니다.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08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09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다른 파일에서 가져오기</a:t>
            </a:r>
            <a:endParaRPr lang="en-US" sz="2600" dirty="0"/>
          </a:p>
        </p:txBody>
      </p:sp>
      <p:sp>
        <p:nvSpPr>
          <p:cNvPr id="5" name="t-410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 ▾ → 다른 파일에서 가져오기</a:t>
            </a:r>
            <a:endParaRPr lang="en-US" sz="1400" dirty="0"/>
          </a:p>
        </p:txBody>
      </p:sp>
      <p:sp>
        <p:nvSpPr>
          <p:cNvPr id="6" name="frame-411"/>
          <p:cNvSpPr/>
          <p:nvPr/>
        </p:nvSpPr>
        <p:spPr>
          <a:xfrm>
            <a:off x="548640" y="2163141"/>
            <a:ext cx="6035040" cy="2988918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12" descr="화면: a-im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63141"/>
            <a:ext cx="6035040" cy="2988918"/>
          </a:xfrm>
          <a:prstGeom prst="rect">
            <a:avLst/>
          </a:prstGeom>
        </p:spPr>
      </p:pic>
      <p:sp>
        <p:nvSpPr>
          <p:cNvPr id="8" name="mark-413"/>
          <p:cNvSpPr/>
          <p:nvPr/>
        </p:nvSpPr>
        <p:spPr>
          <a:xfrm>
            <a:off x="659646" y="2638824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14"/>
          <p:cNvSpPr/>
          <p:nvPr/>
        </p:nvSpPr>
        <p:spPr>
          <a:xfrm>
            <a:off x="513342" y="24925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15"/>
          <p:cNvSpPr txBox="1"/>
          <p:nvPr/>
        </p:nvSpPr>
        <p:spPr>
          <a:xfrm>
            <a:off x="513342" y="2492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16"/>
          <p:cNvSpPr/>
          <p:nvPr/>
        </p:nvSpPr>
        <p:spPr>
          <a:xfrm>
            <a:off x="659646" y="3060705"/>
            <a:ext cx="5813027" cy="271373"/>
          </a:xfrm>
          <a:prstGeom prst="roundRect">
            <a:avLst>
              <a:gd name="adj" fmla="val 13478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17"/>
          <p:cNvSpPr/>
          <p:nvPr/>
        </p:nvSpPr>
        <p:spPr>
          <a:xfrm>
            <a:off x="513342" y="291440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18"/>
          <p:cNvSpPr txBox="1"/>
          <p:nvPr/>
        </p:nvSpPr>
        <p:spPr>
          <a:xfrm>
            <a:off x="513342" y="291440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19"/>
          <p:cNvSpPr/>
          <p:nvPr/>
        </p:nvSpPr>
        <p:spPr>
          <a:xfrm>
            <a:off x="659646" y="4748228"/>
            <a:ext cx="621749" cy="292825"/>
          </a:xfrm>
          <a:prstGeom prst="roundRect">
            <a:avLst>
              <a:gd name="adj" fmla="val 1249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20"/>
          <p:cNvSpPr/>
          <p:nvPr/>
        </p:nvSpPr>
        <p:spPr>
          <a:xfrm>
            <a:off x="513342" y="46019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21"/>
          <p:cNvSpPr txBox="1"/>
          <p:nvPr/>
        </p:nvSpPr>
        <p:spPr>
          <a:xfrm>
            <a:off x="513342" y="46019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22"/>
          <p:cNvSpPr/>
          <p:nvPr/>
        </p:nvSpPr>
        <p:spPr>
          <a:xfrm>
            <a:off x="69494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23"/>
          <p:cNvSpPr txBox="1"/>
          <p:nvPr/>
        </p:nvSpPr>
        <p:spPr>
          <a:xfrm>
            <a:off x="69494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24"/>
          <p:cNvSpPr txBox="1"/>
          <p:nvPr/>
        </p:nvSpPr>
        <p:spPr>
          <a:xfrm>
            <a:off x="7424928" y="173736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파일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견본이나 미리 열어 둔 다른 AASX를 고릅니다.</a:t>
            </a:r>
            <a:endParaRPr lang="en-US" sz="1500" dirty="0"/>
          </a:p>
        </p:txBody>
      </p:sp>
      <p:sp>
        <p:nvSpPr>
          <p:cNvPr id="20" name="step-425"/>
          <p:cNvSpPr/>
          <p:nvPr/>
        </p:nvSpPr>
        <p:spPr>
          <a:xfrm>
            <a:off x="69494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26"/>
          <p:cNvSpPr txBox="1"/>
          <p:nvPr/>
        </p:nvSpPr>
        <p:spPr>
          <a:xfrm>
            <a:off x="69494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27"/>
          <p:cNvSpPr txBox="1"/>
          <p:nvPr/>
        </p:nvSpPr>
        <p:spPr>
          <a:xfrm>
            <a:off x="7424928" y="306324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서브모델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서브모델을 고릅니다. id는 이 설비에 맞게 다시 정해지고 용어 정의(CD)도 함께 옵니다.</a:t>
            </a:r>
            <a:endParaRPr lang="en-US" sz="1500" dirty="0"/>
          </a:p>
        </p:txBody>
      </p:sp>
      <p:sp>
        <p:nvSpPr>
          <p:cNvPr id="23" name="step-428"/>
          <p:cNvSpPr/>
          <p:nvPr/>
        </p:nvSpPr>
        <p:spPr>
          <a:xfrm>
            <a:off x="69494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29"/>
          <p:cNvSpPr txBox="1"/>
          <p:nvPr/>
        </p:nvSpPr>
        <p:spPr>
          <a:xfrm>
            <a:off x="69494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30"/>
          <p:cNvSpPr txBox="1"/>
          <p:nvPr/>
        </p:nvSpPr>
        <p:spPr>
          <a:xfrm>
            <a:off x="7424928" y="4389120"/>
            <a:ext cx="41879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「가져오기」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이름이 있으면 바꾸기(기존 삭제) 또는 나란히 두기(이름_2)를 고릅니다.</a:t>
            </a:r>
            <a:endParaRPr lang="en-US" sz="1500" dirty="0"/>
          </a:p>
        </p:txBody>
      </p:sp>
      <p:sp>
        <p:nvSpPr>
          <p:cNvPr id="26" name="note-431"/>
          <p:cNvSpPr/>
          <p:nvPr/>
        </p:nvSpPr>
        <p:spPr>
          <a:xfrm>
            <a:off x="548640" y="5760720"/>
            <a:ext cx="6035040" cy="50292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notebar-432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-433"/>
          <p:cNvSpPr txBox="1"/>
          <p:nvPr/>
        </p:nvSpPr>
        <p:spPr>
          <a:xfrm>
            <a:off x="777240" y="57607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가져온 값은 원본 설비의 값입니다. 이 설비에 맞게 고쳐 주세요.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3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3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만들고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되돌리기와 변경 이력</a:t>
            </a:r>
            <a:endParaRPr lang="en-US" sz="2600" dirty="0"/>
          </a:p>
        </p:txBody>
      </p:sp>
      <p:sp>
        <p:nvSpPr>
          <p:cNvPr id="5" name="t-43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실수해도 언제든 이전 상태로 돌아갈 수 있습니다</a:t>
            </a:r>
            <a:endParaRPr lang="en-US" sz="1400" dirty="0"/>
          </a:p>
        </p:txBody>
      </p:sp>
      <p:sp>
        <p:nvSpPr>
          <p:cNvPr id="6" name="frame-437"/>
          <p:cNvSpPr/>
          <p:nvPr/>
        </p:nvSpPr>
        <p:spPr>
          <a:xfrm>
            <a:off x="548640" y="1843209"/>
            <a:ext cx="6400800" cy="1251341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38" descr="화면: a-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43209"/>
            <a:ext cx="6400800" cy="1251341"/>
          </a:xfrm>
          <a:prstGeom prst="rect">
            <a:avLst/>
          </a:prstGeom>
        </p:spPr>
      </p:pic>
      <p:graphicFrame>
        <p:nvGraphicFramePr>
          <p:cNvPr id="23" name="table-4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389120"/>
                <a:gridCol w="3749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되돌리는 범위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↶ 되돌리기 · 다시 하기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· Ctrl+Z / Ctrl+Shift+Z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방금 한 작업부터 차례로 (파일마다 따로)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 · 되돌리기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서브모델을 고르고 오른쪽 위 「이력 · 되돌리기」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저장된 지난 시점으로 한 번에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9" name="note-440"/>
          <p:cNvSpPr/>
          <p:nvPr/>
        </p:nvSpPr>
        <p:spPr>
          <a:xfrm>
            <a:off x="548640" y="4892040"/>
            <a:ext cx="11064240" cy="548640"/>
          </a:xfrm>
          <a:prstGeom prst="rect">
            <a:avLst/>
          </a:prstGeom>
          <a:solidFill>
            <a:srgbClr val="EAF7EF"/>
          </a:solidFill>
          <a:ln w="12700">
            <a:solidFill>
              <a:srgbClr val="EAF7EF"/>
            </a:solidFill>
            <a:prstDash val="solid"/>
          </a:ln>
        </p:spPr>
      </p:sp>
      <p:sp>
        <p:nvSpPr>
          <p:cNvPr id="10" name="notebar-441"/>
          <p:cNvSpPr/>
          <p:nvPr/>
        </p:nvSpPr>
        <p:spPr>
          <a:xfrm>
            <a:off x="548640" y="4892040"/>
            <a:ext cx="64008" cy="54864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-442"/>
          <p:cNvSpPr txBox="1"/>
          <p:nvPr/>
        </p:nvSpPr>
        <p:spPr>
          <a:xfrm>
            <a:off x="777240" y="489204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안심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되돌린 기록도 이력에 남으므로, 되돌린 것을 다시 되돌릴 수 있습니다.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44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검사와 자동 고치기</a:t>
            </a:r>
            <a:endParaRPr lang="en-US" sz="3800" dirty="0"/>
          </a:p>
        </p:txBody>
      </p:sp>
      <p:sp>
        <p:nvSpPr>
          <p:cNvPr id="4" name="t-44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결과 읽기 · 골라서 고치기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44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열면 규칙 43종을 자동으로 검사합니다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위반은 반드시 고칩니다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고치기는 미리 보고 골라서 고칩니다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4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4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검사 결과 읽기</a:t>
            </a:r>
            <a:endParaRPr lang="en-US" sz="2600" dirty="0"/>
          </a:p>
        </p:txBody>
      </p:sp>
      <p:sp>
        <p:nvSpPr>
          <p:cNvPr id="5" name="t-44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「위반 · 경고」를 누르면 열립니다</a:t>
            </a:r>
            <a:endParaRPr lang="en-US" sz="1400" dirty="0"/>
          </a:p>
        </p:txBody>
      </p:sp>
      <p:sp>
        <p:nvSpPr>
          <p:cNvPr id="6" name="frame-449"/>
          <p:cNvSpPr/>
          <p:nvPr/>
        </p:nvSpPr>
        <p:spPr>
          <a:xfrm>
            <a:off x="548640" y="1875911"/>
            <a:ext cx="5760720" cy="4157737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50" descr="화면: a-find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5911"/>
            <a:ext cx="5760720" cy="4157737"/>
          </a:xfrm>
          <a:prstGeom prst="rect">
            <a:avLst/>
          </a:prstGeom>
        </p:spPr>
      </p:pic>
      <p:sp>
        <p:nvSpPr>
          <p:cNvPr id="8" name="mark-451"/>
          <p:cNvSpPr/>
          <p:nvPr/>
        </p:nvSpPr>
        <p:spPr>
          <a:xfrm>
            <a:off x="666916" y="2286398"/>
            <a:ext cx="5524169" cy="706871"/>
          </a:xfrm>
          <a:prstGeom prst="roundRect">
            <a:avLst>
              <a:gd name="adj" fmla="val 517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52"/>
          <p:cNvSpPr/>
          <p:nvPr/>
        </p:nvSpPr>
        <p:spPr>
          <a:xfrm>
            <a:off x="520612" y="214009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53"/>
          <p:cNvSpPr txBox="1"/>
          <p:nvPr/>
        </p:nvSpPr>
        <p:spPr>
          <a:xfrm>
            <a:off x="520612" y="21400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54"/>
          <p:cNvSpPr/>
          <p:nvPr/>
        </p:nvSpPr>
        <p:spPr>
          <a:xfrm>
            <a:off x="666916" y="3046145"/>
            <a:ext cx="5524169" cy="2518576"/>
          </a:xfrm>
          <a:prstGeom prst="roundRect">
            <a:avLst>
              <a:gd name="adj" fmla="val 145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55"/>
          <p:cNvSpPr/>
          <p:nvPr/>
        </p:nvSpPr>
        <p:spPr>
          <a:xfrm>
            <a:off x="520612" y="289984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56"/>
          <p:cNvSpPr txBox="1"/>
          <p:nvPr/>
        </p:nvSpPr>
        <p:spPr>
          <a:xfrm>
            <a:off x="520612" y="289984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graphicFrame>
        <p:nvGraphicFramePr>
          <p:cNvPr id="25" name="table-4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78308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19456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KOSMO 규칙에 어긋남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고칩니다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· 상호운용에 문제가 될 수 있음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「자동 고치기」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참고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고칠 필요 없음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읽고 넘어갑니다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tep-458"/>
          <p:cNvSpPr/>
          <p:nvPr/>
        </p:nvSpPr>
        <p:spPr>
          <a:xfrm>
            <a:off x="6675120" y="38404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459"/>
          <p:cNvSpPr txBox="1"/>
          <p:nvPr/>
        </p:nvSpPr>
        <p:spPr>
          <a:xfrm>
            <a:off x="6675120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t-460"/>
          <p:cNvSpPr txBox="1"/>
          <p:nvPr/>
        </p:nvSpPr>
        <p:spPr>
          <a:xfrm>
            <a:off x="7150608" y="379476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— 빨간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0건이 되도록 고칩니다.</a:t>
            </a:r>
            <a:endParaRPr lang="en-US" sz="1400" dirty="0"/>
          </a:p>
        </p:txBody>
      </p:sp>
      <p:sp>
        <p:nvSpPr>
          <p:cNvPr id="18" name="step-461"/>
          <p:cNvSpPr/>
          <p:nvPr/>
        </p:nvSpPr>
        <p:spPr>
          <a:xfrm>
            <a:off x="6675120" y="48006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462"/>
          <p:cNvSpPr txBox="1"/>
          <p:nvPr/>
        </p:nvSpPr>
        <p:spPr>
          <a:xfrm>
            <a:off x="6675120" y="4800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-463"/>
          <p:cNvSpPr txBox="1"/>
          <p:nvPr/>
        </p:nvSpPr>
        <p:spPr>
          <a:xfrm>
            <a:off x="7150608" y="4754880"/>
            <a:ext cx="4462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— 노란 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항목을 누르면 해당 요소로 이동합니다.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6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6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검사와 자동 고치기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자동 고치기</a:t>
            </a:r>
            <a:endParaRPr lang="en-US" sz="2600" dirty="0"/>
          </a:p>
        </p:txBody>
      </p:sp>
      <p:sp>
        <p:nvSpPr>
          <p:cNvPr id="5" name="t-46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수 있는 항목을 전 / 후로 보여 주고, 고른 것만 고칩니다</a:t>
            </a:r>
            <a:endParaRPr lang="en-US" sz="1400" dirty="0"/>
          </a:p>
        </p:txBody>
      </p:sp>
      <p:sp>
        <p:nvSpPr>
          <p:cNvPr id="6" name="frame-467"/>
          <p:cNvSpPr/>
          <p:nvPr/>
        </p:nvSpPr>
        <p:spPr>
          <a:xfrm>
            <a:off x="548640" y="1645920"/>
            <a:ext cx="6404770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68" descr="화면: a-f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404770" cy="4023360"/>
          </a:xfrm>
          <a:prstGeom prst="rect">
            <a:avLst/>
          </a:prstGeom>
        </p:spPr>
      </p:pic>
      <p:sp>
        <p:nvSpPr>
          <p:cNvPr id="8" name="mark-469"/>
          <p:cNvSpPr/>
          <p:nvPr/>
        </p:nvSpPr>
        <p:spPr>
          <a:xfrm>
            <a:off x="679667" y="2260216"/>
            <a:ext cx="139701" cy="139701"/>
          </a:xfrm>
          <a:prstGeom prst="roundRect">
            <a:avLst>
              <a:gd name="adj" fmla="val 2618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470"/>
          <p:cNvSpPr/>
          <p:nvPr/>
        </p:nvSpPr>
        <p:spPr>
          <a:xfrm>
            <a:off x="533363" y="211391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471"/>
          <p:cNvSpPr txBox="1"/>
          <p:nvPr/>
        </p:nvSpPr>
        <p:spPr>
          <a:xfrm>
            <a:off x="533363" y="2113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472"/>
          <p:cNvSpPr/>
          <p:nvPr/>
        </p:nvSpPr>
        <p:spPr>
          <a:xfrm>
            <a:off x="633086" y="2219458"/>
            <a:ext cx="6235877" cy="3039315"/>
          </a:xfrm>
          <a:prstGeom prst="roundRect">
            <a:avLst>
              <a:gd name="adj" fmla="val 120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473"/>
          <p:cNvSpPr/>
          <p:nvPr/>
        </p:nvSpPr>
        <p:spPr>
          <a:xfrm>
            <a:off x="486782" y="207315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474"/>
          <p:cNvSpPr txBox="1"/>
          <p:nvPr/>
        </p:nvSpPr>
        <p:spPr>
          <a:xfrm>
            <a:off x="486782" y="20731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475"/>
          <p:cNvSpPr/>
          <p:nvPr/>
        </p:nvSpPr>
        <p:spPr>
          <a:xfrm>
            <a:off x="627264" y="5340328"/>
            <a:ext cx="687017" cy="250329"/>
          </a:xfrm>
          <a:prstGeom prst="roundRect">
            <a:avLst>
              <a:gd name="adj" fmla="val 146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476"/>
          <p:cNvSpPr/>
          <p:nvPr/>
        </p:nvSpPr>
        <p:spPr>
          <a:xfrm>
            <a:off x="480960" y="519402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477"/>
          <p:cNvSpPr txBox="1"/>
          <p:nvPr/>
        </p:nvSpPr>
        <p:spPr>
          <a:xfrm>
            <a:off x="480960" y="5194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478"/>
          <p:cNvSpPr/>
          <p:nvPr/>
        </p:nvSpPr>
        <p:spPr>
          <a:xfrm>
            <a:off x="818388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479"/>
          <p:cNvSpPr txBox="1"/>
          <p:nvPr/>
        </p:nvSpPr>
        <p:spPr>
          <a:xfrm>
            <a:off x="818388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480"/>
          <p:cNvSpPr txBox="1"/>
          <p:nvPr/>
        </p:nvSpPr>
        <p:spPr>
          <a:xfrm>
            <a:off x="8659368" y="173736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항목 고르기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체크를 빼면 그 항목은 건너뜁니다.</a:t>
            </a:r>
            <a:endParaRPr lang="en-US" sz="1400" dirty="0"/>
          </a:p>
        </p:txBody>
      </p:sp>
      <p:sp>
        <p:nvSpPr>
          <p:cNvPr id="20" name="step-481"/>
          <p:cNvSpPr/>
          <p:nvPr/>
        </p:nvSpPr>
        <p:spPr>
          <a:xfrm>
            <a:off x="818388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482"/>
          <p:cNvSpPr txBox="1"/>
          <p:nvPr/>
        </p:nvSpPr>
        <p:spPr>
          <a:xfrm>
            <a:off x="818388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483"/>
          <p:cNvSpPr txBox="1"/>
          <p:nvPr/>
        </p:nvSpPr>
        <p:spPr>
          <a:xfrm>
            <a:off x="8659368" y="292608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/ 후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어떻게 바뀌는지 미리 봅니다.</a:t>
            </a:r>
            <a:endParaRPr lang="en-US" sz="1400" dirty="0"/>
          </a:p>
        </p:txBody>
      </p:sp>
      <p:sp>
        <p:nvSpPr>
          <p:cNvPr id="23" name="step-484"/>
          <p:cNvSpPr/>
          <p:nvPr/>
        </p:nvSpPr>
        <p:spPr>
          <a:xfrm>
            <a:off x="8183880" y="4160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485"/>
          <p:cNvSpPr txBox="1"/>
          <p:nvPr/>
        </p:nvSpPr>
        <p:spPr>
          <a:xfrm>
            <a:off x="818388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486"/>
          <p:cNvSpPr txBox="1"/>
          <p:nvPr/>
        </p:nvSpPr>
        <p:spPr>
          <a:xfrm>
            <a:off x="8659368" y="4114800"/>
            <a:ext cx="2999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「고른 n건 반영」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반영한 뒤에도 「↶ 되돌리기」로 한 번에 돌아옵니다.</a:t>
            </a:r>
            <a:endParaRPr lang="en-US" sz="1400" dirty="0"/>
          </a:p>
        </p:txBody>
      </p:sp>
      <p:sp>
        <p:nvSpPr>
          <p:cNvPr id="26" name="note-487"/>
          <p:cNvSpPr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7" name="notebar-488"/>
          <p:cNvSpPr/>
          <p:nvPr/>
        </p:nvSpPr>
        <p:spPr>
          <a:xfrm>
            <a:off x="548640" y="5760720"/>
            <a:ext cx="64008" cy="5029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28" name="t-489"/>
          <p:cNvSpPr txBox="1"/>
          <p:nvPr/>
        </p:nvSpPr>
        <p:spPr>
          <a:xfrm>
            <a:off x="777240" y="576072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 두기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판단해야 하는 것(영문 정의 작성 등)은 자동으로 고치지 않습니다. 검사 결과에서 직접 확인하세요.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490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내보내기</a:t>
            </a:r>
            <a:endParaRPr lang="en-US" sz="3800" dirty="0"/>
          </a:p>
        </p:txBody>
      </p:sp>
      <p:sp>
        <p:nvSpPr>
          <p:cNvPr id="4" name="t-491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· 문서용 자료 · AASX 내려받기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492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결과서는 인쇄하면 그대로 PDF가 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가이던스 문서에 넣을 UML 그림과 표를 만듭니다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AASX 내려받기는 회원만 할 수 있습니다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493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494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검증 결과서 · 문서용 자료</a:t>
            </a:r>
            <a:endParaRPr lang="en-US" sz="2600" dirty="0"/>
          </a:p>
        </p:txBody>
      </p:sp>
      <p:sp>
        <p:nvSpPr>
          <p:cNvPr id="5" name="t-495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 ▾ 메뉴에서 엽니다</a:t>
            </a:r>
            <a:endParaRPr lang="en-US" sz="1400" dirty="0"/>
          </a:p>
        </p:txBody>
      </p:sp>
      <p:sp>
        <p:nvSpPr>
          <p:cNvPr id="6" name="frame-496"/>
          <p:cNvSpPr/>
          <p:nvPr/>
        </p:nvSpPr>
        <p:spPr>
          <a:xfrm>
            <a:off x="548640" y="1711757"/>
            <a:ext cx="5120640" cy="3891686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497" descr="화면: a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1757"/>
            <a:ext cx="5120640" cy="3891686"/>
          </a:xfrm>
          <a:prstGeom prst="rect">
            <a:avLst/>
          </a:prstGeom>
        </p:spPr>
      </p:pic>
      <p:sp>
        <p:nvSpPr>
          <p:cNvPr id="8" name="frame-498"/>
          <p:cNvSpPr/>
          <p:nvPr/>
        </p:nvSpPr>
        <p:spPr>
          <a:xfrm>
            <a:off x="6770112" y="1645920"/>
            <a:ext cx="4107697" cy="40233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499" descr="화면: a-do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112" y="1645920"/>
            <a:ext cx="4107697" cy="4023360"/>
          </a:xfrm>
          <a:prstGeom prst="rect">
            <a:avLst/>
          </a:prstGeom>
        </p:spPr>
      </p:pic>
      <p:sp>
        <p:nvSpPr>
          <p:cNvPr id="10" name="t-500"/>
          <p:cNvSpPr txBox="1"/>
          <p:nvPr/>
        </p:nvSpPr>
        <p:spPr>
          <a:xfrm>
            <a:off x="548640" y="5760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결과서 — 인쇄 메뉴에서 PDF로 저장</a:t>
            </a:r>
            <a:endParaRPr lang="en-US" sz="1150" dirty="0"/>
          </a:p>
        </p:txBody>
      </p:sp>
      <p:sp>
        <p:nvSpPr>
          <p:cNvPr id="11" name="t-501"/>
          <p:cNvSpPr txBox="1"/>
          <p:nvPr/>
        </p:nvSpPr>
        <p:spPr>
          <a:xfrm>
            <a:off x="6035040" y="576072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문서용 자료 — UML 그림 · 표 · .docx 한 벌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0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0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내보내기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AASX 내려받기</a:t>
            </a:r>
            <a:endParaRPr lang="en-US" sz="2600" dirty="0"/>
          </a:p>
        </p:txBody>
      </p:sp>
      <p:sp>
        <p:nvSpPr>
          <p:cNvPr id="5" name="t-50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 오른쪽의 파란 단추입니다</a:t>
            </a:r>
            <a:endParaRPr lang="en-US" sz="1400" dirty="0"/>
          </a:p>
        </p:txBody>
      </p:sp>
      <p:sp>
        <p:nvSpPr>
          <p:cNvPr id="6" name="frame-505"/>
          <p:cNvSpPr/>
          <p:nvPr/>
        </p:nvSpPr>
        <p:spPr>
          <a:xfrm>
            <a:off x="6743700" y="1691640"/>
            <a:ext cx="4800600" cy="100584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06" descr="화면: a-header-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3700" y="1691640"/>
            <a:ext cx="4800600" cy="1005840"/>
          </a:xfrm>
          <a:prstGeom prst="rect">
            <a:avLst/>
          </a:prstGeom>
        </p:spPr>
      </p:pic>
      <p:sp>
        <p:nvSpPr>
          <p:cNvPr id="8" name="mark-507"/>
          <p:cNvSpPr/>
          <p:nvPr/>
        </p:nvSpPr>
        <p:spPr>
          <a:xfrm>
            <a:off x="10049256" y="2208276"/>
            <a:ext cx="1389888" cy="429768"/>
          </a:xfrm>
          <a:prstGeom prst="roundRect">
            <a:avLst>
              <a:gd name="adj" fmla="val 851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08"/>
          <p:cNvSpPr/>
          <p:nvPr/>
        </p:nvSpPr>
        <p:spPr>
          <a:xfrm>
            <a:off x="9902952" y="206197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09"/>
          <p:cNvSpPr txBox="1"/>
          <p:nvPr/>
        </p:nvSpPr>
        <p:spPr>
          <a:xfrm>
            <a:off x="9902952" y="20619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graphicFrame>
        <p:nvGraphicFramePr>
          <p:cNvPr id="29" name="table-5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566928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103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전에 확인할 것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머리줄 「위반 · 경고」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경고는 자동 고치기로 정리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고치기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명판 값 (제조사 · 모델 · 일련번호)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서브모델 값 표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 사진이 실제 사진인지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AssetInformation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12" name="step-511"/>
          <p:cNvSpPr/>
          <p:nvPr/>
        </p:nvSpPr>
        <p:spPr>
          <a:xfrm>
            <a:off x="6675120" y="29718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-512"/>
          <p:cNvSpPr txBox="1"/>
          <p:nvPr/>
        </p:nvSpPr>
        <p:spPr>
          <a:xfrm>
            <a:off x="6675120" y="29718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-513"/>
          <p:cNvSpPr txBox="1"/>
          <p:nvPr/>
        </p:nvSpPr>
        <p:spPr>
          <a:xfrm>
            <a:off x="7150608" y="292608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「AASX 내려받기」를 누릅니다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브라우저의 다운로드 폴더에 저장됩니다.</a:t>
            </a:r>
            <a:endParaRPr lang="en-US" sz="1450" dirty="0"/>
          </a:p>
        </p:txBody>
      </p:sp>
      <p:sp>
        <p:nvSpPr>
          <p:cNvPr id="15" name="step-514"/>
          <p:cNvSpPr/>
          <p:nvPr/>
        </p:nvSpPr>
        <p:spPr>
          <a:xfrm>
            <a:off x="6675120" y="40233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-515"/>
          <p:cNvSpPr txBox="1"/>
          <p:nvPr/>
        </p:nvSpPr>
        <p:spPr>
          <a:xfrm>
            <a:off x="6675120" y="4023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-516"/>
          <p:cNvSpPr txBox="1"/>
          <p:nvPr/>
        </p:nvSpPr>
        <p:spPr>
          <a:xfrm>
            <a:off x="7150608" y="397764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위반이 남아 있으면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더 묻습니다. 작업 중간 저장이라면 그대로 받아도 됩니다.</a:t>
            </a:r>
            <a:endParaRPr lang="en-US" sz="1450" dirty="0"/>
          </a:p>
        </p:txBody>
      </p:sp>
      <p:sp>
        <p:nvSpPr>
          <p:cNvPr id="18" name="step-517"/>
          <p:cNvSpPr/>
          <p:nvPr/>
        </p:nvSpPr>
        <p:spPr>
          <a:xfrm>
            <a:off x="6675120" y="50749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-518"/>
          <p:cNvSpPr txBox="1"/>
          <p:nvPr/>
        </p:nvSpPr>
        <p:spPr>
          <a:xfrm>
            <a:off x="6675120" y="50749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-519"/>
          <p:cNvSpPr txBox="1"/>
          <p:nvPr/>
        </p:nvSpPr>
        <p:spPr>
          <a:xfrm>
            <a:off x="7150608" y="5029200"/>
            <a:ext cx="44622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계정이면 🔒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회원가입 화면으로 이동합니다.</a:t>
            </a:r>
            <a:endParaRPr lang="en-US" sz="1450" dirty="0"/>
          </a:p>
        </p:txBody>
      </p:sp>
      <p:sp>
        <p:nvSpPr>
          <p:cNvPr id="21" name="note-520"/>
          <p:cNvSpPr/>
          <p:nvPr/>
        </p:nvSpPr>
        <p:spPr>
          <a:xfrm>
            <a:off x="548640" y="4297680"/>
            <a:ext cx="5669280" cy="548640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notebar-521"/>
          <p:cNvSpPr/>
          <p:nvPr/>
        </p:nvSpPr>
        <p:spPr>
          <a:xfrm>
            <a:off x="548640" y="4297680"/>
            <a:ext cx="64008" cy="5486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-522"/>
          <p:cNvSpPr txBox="1"/>
          <p:nvPr/>
        </p:nvSpPr>
        <p:spPr>
          <a:xfrm>
            <a:off x="777240" y="429768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완성본은 위반 0건 상태에서 내려받으세요. 공식 판정은 KOSMO Validator가 합니다.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23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공정과 레퍼런스 번들</a:t>
            </a:r>
            <a:endParaRPr lang="en-US" sz="3800" dirty="0"/>
          </a:p>
        </p:txBody>
      </p:sp>
      <p:sp>
        <p:nvSpPr>
          <p:cNvPr id="4" name="t-524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설비를 공정으로 · ZIP 묶음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25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→ 공정 → 설비를 한 트리로 구성합니다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설비 파일을 번들 하나로 내보냅니다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26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27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공정 구성</a:t>
            </a:r>
            <a:endParaRPr lang="en-US" sz="2600" dirty="0"/>
          </a:p>
        </p:txBody>
      </p:sp>
      <p:sp>
        <p:nvSpPr>
          <p:cNvPr id="5" name="t-528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만들기 → 그룹(회사 · 공정)으로 시작합니다</a:t>
            </a:r>
            <a:endParaRPr lang="en-US" sz="1400" dirty="0"/>
          </a:p>
        </p:txBody>
      </p:sp>
      <p:sp>
        <p:nvSpPr>
          <p:cNvPr id="6" name="frame-529"/>
          <p:cNvSpPr/>
          <p:nvPr/>
        </p:nvSpPr>
        <p:spPr>
          <a:xfrm>
            <a:off x="548640" y="1645920"/>
            <a:ext cx="4481124" cy="43891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30" descr="화면: a-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4481124" cy="4389120"/>
          </a:xfrm>
          <a:prstGeom prst="rect">
            <a:avLst/>
          </a:prstGeom>
        </p:spPr>
      </p:pic>
      <p:sp>
        <p:nvSpPr>
          <p:cNvPr id="8" name="mark-531"/>
          <p:cNvSpPr/>
          <p:nvPr/>
        </p:nvSpPr>
        <p:spPr>
          <a:xfrm>
            <a:off x="4131842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32"/>
          <p:cNvSpPr/>
          <p:nvPr/>
        </p:nvSpPr>
        <p:spPr>
          <a:xfrm>
            <a:off x="3985538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33"/>
          <p:cNvSpPr txBox="1"/>
          <p:nvPr/>
        </p:nvSpPr>
        <p:spPr>
          <a:xfrm>
            <a:off x="3985538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34"/>
          <p:cNvSpPr/>
          <p:nvPr/>
        </p:nvSpPr>
        <p:spPr>
          <a:xfrm>
            <a:off x="4499857" y="3015620"/>
            <a:ext cx="383315" cy="193896"/>
          </a:xfrm>
          <a:prstGeom prst="roundRect">
            <a:avLst>
              <a:gd name="adj" fmla="val 18864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35"/>
          <p:cNvSpPr/>
          <p:nvPr/>
        </p:nvSpPr>
        <p:spPr>
          <a:xfrm>
            <a:off x="4353553" y="286931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36"/>
          <p:cNvSpPr txBox="1"/>
          <p:nvPr/>
        </p:nvSpPr>
        <p:spPr>
          <a:xfrm>
            <a:off x="4353553" y="28693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537"/>
          <p:cNvSpPr/>
          <p:nvPr/>
        </p:nvSpPr>
        <p:spPr>
          <a:xfrm>
            <a:off x="1788453" y="3378223"/>
            <a:ext cx="258839" cy="166836"/>
          </a:xfrm>
          <a:prstGeom prst="roundRect">
            <a:avLst>
              <a:gd name="adj" fmla="val 21923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538"/>
          <p:cNvSpPr/>
          <p:nvPr/>
        </p:nvSpPr>
        <p:spPr>
          <a:xfrm>
            <a:off x="1642149" y="3231919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539"/>
          <p:cNvSpPr txBox="1"/>
          <p:nvPr/>
        </p:nvSpPr>
        <p:spPr>
          <a:xfrm>
            <a:off x="1642149" y="3231919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tep-540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41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-542"/>
          <p:cNvSpPr txBox="1"/>
          <p:nvPr/>
        </p:nvSpPr>
        <p:spPr>
          <a:xfrm>
            <a:off x="7790688" y="173736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공정」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아래에 공정 · 라인을 만듭니다(파일 없음).</a:t>
            </a:r>
            <a:endParaRPr lang="en-US" sz="1450" dirty="0"/>
          </a:p>
        </p:txBody>
      </p:sp>
      <p:sp>
        <p:nvSpPr>
          <p:cNvPr id="20" name="step-543"/>
          <p:cNvSpPr/>
          <p:nvPr/>
        </p:nvSpPr>
        <p:spPr>
          <a:xfrm>
            <a:off x="731520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44"/>
          <p:cNvSpPr txBox="1"/>
          <p:nvPr/>
        </p:nvSpPr>
        <p:spPr>
          <a:xfrm>
            <a:off x="731520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-545"/>
          <p:cNvSpPr txBox="1"/>
          <p:nvPr/>
        </p:nvSpPr>
        <p:spPr>
          <a:xfrm>
            <a:off x="7790688" y="306324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「＋ 설비」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업로드한 설비 파일에서 고르거나 「PC에서 가져오기」로 바로 올립니다.</a:t>
            </a:r>
            <a:endParaRPr lang="en-US" sz="1450" dirty="0"/>
          </a:p>
        </p:txBody>
      </p:sp>
      <p:sp>
        <p:nvSpPr>
          <p:cNvPr id="23" name="step-546"/>
          <p:cNvSpPr/>
          <p:nvPr/>
        </p:nvSpPr>
        <p:spPr>
          <a:xfrm>
            <a:off x="731520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-547"/>
          <p:cNvSpPr txBox="1"/>
          <p:nvPr/>
        </p:nvSpPr>
        <p:spPr>
          <a:xfrm>
            <a:off x="731520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-548"/>
          <p:cNvSpPr txBox="1"/>
          <p:nvPr/>
        </p:nvSpPr>
        <p:spPr>
          <a:xfrm>
            <a:off x="7790688" y="4389120"/>
            <a:ext cx="38221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기종 여러 대 — ×N</a:t>
            </a:r>
            <a:endParaRPr lang="en-US" sz="14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파일을 복사하지 않고 대수만 늘립니다. 호기별 값이 필요하면 「호기별로 나누기」.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49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50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공정과 레퍼런스 번들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레퍼런스 번들</a:t>
            </a:r>
            <a:endParaRPr lang="en-US" sz="2600" dirty="0"/>
          </a:p>
        </p:txBody>
      </p:sp>
      <p:sp>
        <p:nvSpPr>
          <p:cNvPr id="5" name="t-551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파일에서 내보내기 ▾ → 레퍼런스 번들</a:t>
            </a:r>
            <a:endParaRPr lang="en-US" sz="1400" dirty="0"/>
          </a:p>
        </p:txBody>
      </p:sp>
      <p:sp>
        <p:nvSpPr>
          <p:cNvPr id="6" name="frame-552"/>
          <p:cNvSpPr/>
          <p:nvPr/>
        </p:nvSpPr>
        <p:spPr>
          <a:xfrm>
            <a:off x="548640" y="1645920"/>
            <a:ext cx="6013775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53" descr="화면: a-bund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6013775" cy="4617720"/>
          </a:xfrm>
          <a:prstGeom prst="rect">
            <a:avLst/>
          </a:prstGeom>
        </p:spPr>
      </p:pic>
      <p:sp>
        <p:nvSpPr>
          <p:cNvPr id="8" name="mark-554"/>
          <p:cNvSpPr/>
          <p:nvPr/>
        </p:nvSpPr>
        <p:spPr>
          <a:xfrm>
            <a:off x="731414" y="2437230"/>
            <a:ext cx="1024541" cy="278786"/>
          </a:xfrm>
          <a:prstGeom prst="roundRect">
            <a:avLst>
              <a:gd name="adj" fmla="val 1312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55"/>
          <p:cNvSpPr/>
          <p:nvPr/>
        </p:nvSpPr>
        <p:spPr>
          <a:xfrm>
            <a:off x="585110" y="2290926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56"/>
          <p:cNvSpPr txBox="1"/>
          <p:nvPr/>
        </p:nvSpPr>
        <p:spPr>
          <a:xfrm>
            <a:off x="585110" y="229092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mark-557"/>
          <p:cNvSpPr/>
          <p:nvPr/>
        </p:nvSpPr>
        <p:spPr>
          <a:xfrm>
            <a:off x="653855" y="3600609"/>
            <a:ext cx="5803345" cy="213159"/>
          </a:xfrm>
          <a:prstGeom prst="roundRect">
            <a:avLst>
              <a:gd name="adj" fmla="val 17159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58"/>
          <p:cNvSpPr/>
          <p:nvPr/>
        </p:nvSpPr>
        <p:spPr>
          <a:xfrm>
            <a:off x="507551" y="345430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59"/>
          <p:cNvSpPr txBox="1"/>
          <p:nvPr/>
        </p:nvSpPr>
        <p:spPr>
          <a:xfrm>
            <a:off x="507551" y="345430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tep-560"/>
          <p:cNvSpPr/>
          <p:nvPr/>
        </p:nvSpPr>
        <p:spPr>
          <a:xfrm>
            <a:off x="786384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561"/>
          <p:cNvSpPr txBox="1"/>
          <p:nvPr/>
        </p:nvSpPr>
        <p:spPr>
          <a:xfrm>
            <a:off x="786384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-562"/>
          <p:cNvSpPr txBox="1"/>
          <p:nvPr/>
        </p:nvSpPr>
        <p:spPr>
          <a:xfrm>
            <a:off x="8339328" y="173736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구성과 준비 상태 확인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· 사전 점검 · 공통 항목 · 실동작 증빙을 한 화면에서 봅니다.</a:t>
            </a:r>
            <a:endParaRPr lang="en-US" sz="1400" dirty="0"/>
          </a:p>
        </p:txBody>
      </p:sp>
      <p:sp>
        <p:nvSpPr>
          <p:cNvPr id="17" name="step-563"/>
          <p:cNvSpPr/>
          <p:nvPr/>
        </p:nvSpPr>
        <p:spPr>
          <a:xfrm>
            <a:off x="7863840" y="3108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564"/>
          <p:cNvSpPr txBox="1"/>
          <p:nvPr/>
        </p:nvSpPr>
        <p:spPr>
          <a:xfrm>
            <a:off x="7863840" y="3108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-565"/>
          <p:cNvSpPr txBox="1"/>
          <p:nvPr/>
        </p:nvSpPr>
        <p:spPr>
          <a:xfrm>
            <a:off x="8339328" y="306324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「번들 내보내기(.zip)」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공정 · 설비 AASX · 해시(manifest) · 폴더 구조가 함께 들어갑니다(회원).</a:t>
            </a:r>
            <a:endParaRPr lang="en-US" sz="1400" dirty="0"/>
          </a:p>
        </p:txBody>
      </p:sp>
      <p:sp>
        <p:nvSpPr>
          <p:cNvPr id="20" name="step-566"/>
          <p:cNvSpPr/>
          <p:nvPr/>
        </p:nvSpPr>
        <p:spPr>
          <a:xfrm>
            <a:off x="7863840" y="44348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-567"/>
          <p:cNvSpPr txBox="1"/>
          <p:nvPr/>
        </p:nvSpPr>
        <p:spPr>
          <a:xfrm>
            <a:off x="7863840" y="4434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-568"/>
          <p:cNvSpPr txBox="1"/>
          <p:nvPr/>
        </p:nvSpPr>
        <p:spPr>
          <a:xfrm>
            <a:off x="8339328" y="4389120"/>
            <a:ext cx="3273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받는 쪽은 「번들 열기」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바뀌지 않았는지 해시로 확인합니다.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569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현장 값 수집과 제공</a:t>
            </a:r>
            <a:endParaRPr lang="en-US" sz="3800" dirty="0"/>
          </a:p>
        </p:txBody>
      </p:sp>
      <p:sp>
        <p:nvSpPr>
          <p:cNvPr id="4" name="t-570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시험 · OPC UA로 상위 시스템에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286000" y="3977640"/>
            <a:ext cx="8961120" cy="0"/>
          </a:xfrm>
          <a:prstGeom prst="line">
            <a:avLst/>
          </a:prstGeom>
          <a:noFill/>
          <a:ln w="12700">
            <a:solidFill>
              <a:srgbClr val="2B3A52"/>
            </a:solidFill>
            <a:prstDash val="solid"/>
          </a:ln>
        </p:spPr>
      </p:sp>
      <p:sp>
        <p:nvSpPr>
          <p:cNvPr id="6" name="t-571"/>
          <p:cNvSpPr txBox="1"/>
          <p:nvPr/>
        </p:nvSpPr>
        <p:spPr>
          <a:xfrm>
            <a:off x="2286000" y="4160520"/>
            <a:ext cx="8961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없어도 가상 PLC로 바로 시험합니다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400" dirty="0">
                <a:solidFill>
                  <a:srgbClr val="C9D4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수집값은 시계열로만 쌓이고 AASX에는 반영하지 않습니다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57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57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설비에서 값 수집하기</a:t>
            </a:r>
            <a:endParaRPr lang="en-US" sz="2600" dirty="0"/>
          </a:p>
        </p:txBody>
      </p:sp>
      <p:sp>
        <p:nvSpPr>
          <p:cNvPr id="5" name="t-57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「수집」 칸에서 합니다</a:t>
            </a:r>
            <a:endParaRPr lang="en-US" sz="1400" dirty="0"/>
          </a:p>
        </p:txBody>
      </p:sp>
      <p:sp>
        <p:nvSpPr>
          <p:cNvPr id="6" name="frame-575"/>
          <p:cNvSpPr/>
          <p:nvPr/>
        </p:nvSpPr>
        <p:spPr>
          <a:xfrm>
            <a:off x="73574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576" descr="화면: a-collect-emp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5748" y="1645920"/>
            <a:ext cx="2277544" cy="4617720"/>
          </a:xfrm>
          <a:prstGeom prst="rect">
            <a:avLst/>
          </a:prstGeom>
        </p:spPr>
      </p:pic>
      <p:sp>
        <p:nvSpPr>
          <p:cNvPr id="8" name="mark-577"/>
          <p:cNvSpPr/>
          <p:nvPr/>
        </p:nvSpPr>
        <p:spPr>
          <a:xfrm>
            <a:off x="794846" y="3077238"/>
            <a:ext cx="123124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578"/>
          <p:cNvSpPr/>
          <p:nvPr/>
        </p:nvSpPr>
        <p:spPr>
          <a:xfrm>
            <a:off x="648542" y="2930934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579"/>
          <p:cNvSpPr txBox="1"/>
          <p:nvPr/>
        </p:nvSpPr>
        <p:spPr>
          <a:xfrm>
            <a:off x="648542" y="293093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580"/>
          <p:cNvSpPr/>
          <p:nvPr/>
        </p:nvSpPr>
        <p:spPr>
          <a:xfrm>
            <a:off x="794846" y="2348424"/>
            <a:ext cx="792822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581"/>
          <p:cNvSpPr/>
          <p:nvPr/>
        </p:nvSpPr>
        <p:spPr>
          <a:xfrm>
            <a:off x="648542" y="2202120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582"/>
          <p:cNvSpPr txBox="1"/>
          <p:nvPr/>
        </p:nvSpPr>
        <p:spPr>
          <a:xfrm>
            <a:off x="648542" y="2202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frame-583"/>
          <p:cNvSpPr/>
          <p:nvPr/>
        </p:nvSpPr>
        <p:spPr>
          <a:xfrm>
            <a:off x="3616108" y="1645920"/>
            <a:ext cx="2277544" cy="461772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5" name="screen-584" descr="화면: a-colle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6108" y="1645920"/>
            <a:ext cx="2277544" cy="4617720"/>
          </a:xfrm>
          <a:prstGeom prst="rect">
            <a:avLst/>
          </a:prstGeom>
        </p:spPr>
      </p:pic>
      <p:sp>
        <p:nvSpPr>
          <p:cNvPr id="16" name="mark-585"/>
          <p:cNvSpPr/>
          <p:nvPr/>
        </p:nvSpPr>
        <p:spPr>
          <a:xfrm>
            <a:off x="5007569" y="1722099"/>
            <a:ext cx="348701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7" name="markdot-586"/>
          <p:cNvSpPr/>
          <p:nvPr/>
        </p:nvSpPr>
        <p:spPr>
          <a:xfrm>
            <a:off x="4861265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-587"/>
          <p:cNvSpPr txBox="1"/>
          <p:nvPr/>
        </p:nvSpPr>
        <p:spPr>
          <a:xfrm>
            <a:off x="4861265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mark-588"/>
          <p:cNvSpPr/>
          <p:nvPr/>
        </p:nvSpPr>
        <p:spPr>
          <a:xfrm>
            <a:off x="3675206" y="2439526"/>
            <a:ext cx="2200158" cy="3805826"/>
          </a:xfrm>
          <a:prstGeom prst="roundRect">
            <a:avLst>
              <a:gd name="adj" fmla="val 166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0" name="markdot-589"/>
          <p:cNvSpPr/>
          <p:nvPr/>
        </p:nvSpPr>
        <p:spPr>
          <a:xfrm>
            <a:off x="3528902" y="229322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-590"/>
          <p:cNvSpPr txBox="1"/>
          <p:nvPr/>
        </p:nvSpPr>
        <p:spPr>
          <a:xfrm>
            <a:off x="3528902" y="229322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100" dirty="0"/>
          </a:p>
        </p:txBody>
      </p:sp>
      <p:sp>
        <p:nvSpPr>
          <p:cNvPr id="22" name="mark-591"/>
          <p:cNvSpPr/>
          <p:nvPr/>
        </p:nvSpPr>
        <p:spPr>
          <a:xfrm>
            <a:off x="5326425" y="1722099"/>
            <a:ext cx="508129" cy="246212"/>
          </a:xfrm>
          <a:prstGeom prst="roundRect">
            <a:avLst>
              <a:gd name="adj" fmla="val 14855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23" name="markdot-592"/>
          <p:cNvSpPr/>
          <p:nvPr/>
        </p:nvSpPr>
        <p:spPr>
          <a:xfrm>
            <a:off x="5180121" y="1575795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-593"/>
          <p:cNvSpPr txBox="1"/>
          <p:nvPr/>
        </p:nvSpPr>
        <p:spPr>
          <a:xfrm>
            <a:off x="5180121" y="1575795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step-594"/>
          <p:cNvSpPr/>
          <p:nvPr/>
        </p:nvSpPr>
        <p:spPr>
          <a:xfrm>
            <a:off x="64008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595"/>
          <p:cNvSpPr txBox="1"/>
          <p:nvPr/>
        </p:nvSpPr>
        <p:spPr>
          <a:xfrm>
            <a:off x="64008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-596"/>
          <p:cNvSpPr txBox="1"/>
          <p:nvPr/>
        </p:nvSpPr>
        <p:spPr>
          <a:xfrm>
            <a:off x="6876288" y="1737360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가상 PLC로 연결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PLC가 없을 때 — 이 설비의 운전 데이터 이름대로 값을 만들어 냅니다.</a:t>
            </a:r>
            <a:endParaRPr lang="en-US" sz="1400" dirty="0"/>
          </a:p>
        </p:txBody>
      </p:sp>
      <p:sp>
        <p:nvSpPr>
          <p:cNvPr id="28" name="step-597"/>
          <p:cNvSpPr/>
          <p:nvPr/>
        </p:nvSpPr>
        <p:spPr>
          <a:xfrm>
            <a:off x="6400800" y="2624328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-598"/>
          <p:cNvSpPr txBox="1"/>
          <p:nvPr/>
        </p:nvSpPr>
        <p:spPr>
          <a:xfrm>
            <a:off x="6400800" y="2624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30" name="t-599"/>
          <p:cNvSpPr txBox="1"/>
          <p:nvPr/>
        </p:nvSpPr>
        <p:spPr>
          <a:xfrm>
            <a:off x="6876288" y="2578608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연결 만들기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설비의 OPC UA 주소와 태그를 입력합니다.</a:t>
            </a:r>
            <a:endParaRPr lang="en-US" sz="1400" dirty="0"/>
          </a:p>
        </p:txBody>
      </p:sp>
      <p:sp>
        <p:nvSpPr>
          <p:cNvPr id="31" name="step-600"/>
          <p:cNvSpPr/>
          <p:nvPr/>
        </p:nvSpPr>
        <p:spPr>
          <a:xfrm>
            <a:off x="6400800" y="3465576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-601"/>
          <p:cNvSpPr txBox="1"/>
          <p:nvPr/>
        </p:nvSpPr>
        <p:spPr>
          <a:xfrm>
            <a:off x="640080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-602"/>
          <p:cNvSpPr txBox="1"/>
          <p:nvPr/>
        </p:nvSpPr>
        <p:spPr>
          <a:xfrm>
            <a:off x="6876288" y="3419856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「수집」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값을 한 번 읽어 옵니다.</a:t>
            </a:r>
            <a:endParaRPr lang="en-US" sz="1400" dirty="0"/>
          </a:p>
        </p:txBody>
      </p:sp>
      <p:sp>
        <p:nvSpPr>
          <p:cNvPr id="34" name="step-603"/>
          <p:cNvSpPr/>
          <p:nvPr/>
        </p:nvSpPr>
        <p:spPr>
          <a:xfrm>
            <a:off x="6400800" y="4306824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-604"/>
          <p:cNvSpPr txBox="1"/>
          <p:nvPr/>
        </p:nvSpPr>
        <p:spPr>
          <a:xfrm>
            <a:off x="6400800" y="43068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-605"/>
          <p:cNvSpPr txBox="1"/>
          <p:nvPr/>
        </p:nvSpPr>
        <p:spPr>
          <a:xfrm>
            <a:off x="6876288" y="4261104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값 표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태그별 값과 시각이 쌓입니다.</a:t>
            </a:r>
            <a:endParaRPr lang="en-US" sz="1400" dirty="0"/>
          </a:p>
        </p:txBody>
      </p:sp>
      <p:sp>
        <p:nvSpPr>
          <p:cNvPr id="37" name="step-606"/>
          <p:cNvSpPr/>
          <p:nvPr/>
        </p:nvSpPr>
        <p:spPr>
          <a:xfrm>
            <a:off x="6400800" y="5148072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8" name="t-607"/>
          <p:cNvSpPr txBox="1"/>
          <p:nvPr/>
        </p:nvSpPr>
        <p:spPr>
          <a:xfrm>
            <a:off x="6400800" y="5148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-608"/>
          <p:cNvSpPr txBox="1"/>
          <p:nvPr/>
        </p:nvSpPr>
        <p:spPr>
          <a:xfrm>
            <a:off x="6876288" y="5102352"/>
            <a:ext cx="473659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「주소 목록」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· 검수에 넘길 수집 주소 표(CSV)</a:t>
            </a:r>
            <a:endParaRPr lang="en-US" sz="1400" dirty="0"/>
          </a:p>
        </p:txBody>
      </p:sp>
      <p:sp>
        <p:nvSpPr>
          <p:cNvPr id="40" name="note-609"/>
          <p:cNvSpPr/>
          <p:nvPr/>
        </p:nvSpPr>
        <p:spPr>
          <a:xfrm>
            <a:off x="6400800" y="5715000"/>
            <a:ext cx="5212080" cy="566928"/>
          </a:xfrm>
          <a:prstGeom prst="rect">
            <a:avLst/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41" name="notebar-610"/>
          <p:cNvSpPr/>
          <p:nvPr/>
        </p:nvSpPr>
        <p:spPr>
          <a:xfrm>
            <a:off x="6400800" y="5715000"/>
            <a:ext cx="64008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-611"/>
          <p:cNvSpPr txBox="1"/>
          <p:nvPr/>
        </p:nvSpPr>
        <p:spPr>
          <a:xfrm>
            <a:off x="6629400" y="57150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연결하면 파일에 수집 연결(AID)이 추가되어 「시연본」이 됩니다. 원본 파일에는 연결하지 마세요.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1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1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값 수집과 제공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상위 시스템에 값 제공하기 — OPC UA</a:t>
            </a:r>
            <a:endParaRPr lang="en-US" sz="2600" dirty="0"/>
          </a:p>
        </p:txBody>
      </p:sp>
      <p:sp>
        <p:nvSpPr>
          <p:cNvPr id="5" name="t-61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관리자가 켜 둔 서버에서만 보입니다</a:t>
            </a:r>
            <a:endParaRPr lang="en-US" sz="1400" dirty="0"/>
          </a:p>
        </p:txBody>
      </p:sp>
      <p:sp>
        <p:nvSpPr>
          <p:cNvPr id="6" name="frame-615"/>
          <p:cNvSpPr/>
          <p:nvPr/>
        </p:nvSpPr>
        <p:spPr>
          <a:xfrm>
            <a:off x="548640" y="1703742"/>
            <a:ext cx="6400800" cy="299331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16" descr="화면: a-serv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3742"/>
            <a:ext cx="6400800" cy="2993315"/>
          </a:xfrm>
          <a:prstGeom prst="rect">
            <a:avLst/>
          </a:prstGeom>
        </p:spPr>
      </p:pic>
      <p:sp>
        <p:nvSpPr>
          <p:cNvPr id="8" name="mark-617"/>
          <p:cNvSpPr/>
          <p:nvPr/>
        </p:nvSpPr>
        <p:spPr>
          <a:xfrm>
            <a:off x="2305095" y="3140157"/>
            <a:ext cx="4497503" cy="242854"/>
          </a:xfrm>
          <a:prstGeom prst="roundRect">
            <a:avLst>
              <a:gd name="adj" fmla="val 15061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18"/>
          <p:cNvSpPr/>
          <p:nvPr/>
        </p:nvSpPr>
        <p:spPr>
          <a:xfrm>
            <a:off x="2158791" y="299385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19"/>
          <p:cNvSpPr txBox="1"/>
          <p:nvPr/>
        </p:nvSpPr>
        <p:spPr>
          <a:xfrm>
            <a:off x="2158791" y="299385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tep-620"/>
          <p:cNvSpPr/>
          <p:nvPr/>
        </p:nvSpPr>
        <p:spPr>
          <a:xfrm>
            <a:off x="73152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-621"/>
          <p:cNvSpPr txBox="1"/>
          <p:nvPr/>
        </p:nvSpPr>
        <p:spPr>
          <a:xfrm>
            <a:off x="73152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-622"/>
          <p:cNvSpPr txBox="1"/>
          <p:nvPr/>
        </p:nvSpPr>
        <p:spPr>
          <a:xfrm>
            <a:off x="7790688" y="173736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시스템에 알려 줄 주소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머리줄의 「→ 내주는 중」을 누르면 보입니다. MES · SCADA에 이 주소를 알려 주세요.</a:t>
            </a:r>
            <a:endParaRPr lang="en-US" sz="1500" dirty="0"/>
          </a:p>
        </p:txBody>
      </p:sp>
      <p:sp>
        <p:nvSpPr>
          <p:cNvPr id="14" name="step-623"/>
          <p:cNvSpPr/>
          <p:nvPr/>
        </p:nvSpPr>
        <p:spPr>
          <a:xfrm>
            <a:off x="7315200" y="301752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-624"/>
          <p:cNvSpPr txBox="1"/>
          <p:nvPr/>
        </p:nvSpPr>
        <p:spPr>
          <a:xfrm>
            <a:off x="7315200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-625"/>
          <p:cNvSpPr txBox="1"/>
          <p:nvPr/>
        </p:nvSpPr>
        <p:spPr>
          <a:xfrm>
            <a:off x="7790688" y="297180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구독으로 받아 갑니다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바뀌면 이 서버가 먼저 알려 줍니다.</a:t>
            </a:r>
            <a:endParaRPr lang="en-US" sz="1500" dirty="0"/>
          </a:p>
        </p:txBody>
      </p:sp>
      <p:sp>
        <p:nvSpPr>
          <p:cNvPr id="17" name="step-626"/>
          <p:cNvSpPr/>
          <p:nvPr/>
        </p:nvSpPr>
        <p:spPr>
          <a:xfrm>
            <a:off x="7315200" y="425196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8" name="t-627"/>
          <p:cNvSpPr txBox="1"/>
          <p:nvPr/>
        </p:nvSpPr>
        <p:spPr>
          <a:xfrm>
            <a:off x="7315200" y="4251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-628"/>
          <p:cNvSpPr txBox="1"/>
          <p:nvPr/>
        </p:nvSpPr>
        <p:spPr>
          <a:xfrm>
            <a:off x="7790688" y="4206240"/>
            <a:ext cx="3822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읽기 전용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외부에서 값을 바꿀 수 없습니다.</a:t>
            </a:r>
            <a:endParaRPr lang="en-US" sz="1500" dirty="0"/>
          </a:p>
        </p:txBody>
      </p:sp>
      <p:sp>
        <p:nvSpPr>
          <p:cNvPr id="20" name="note-629"/>
          <p:cNvSpPr/>
          <p:nvPr/>
        </p:nvSpPr>
        <p:spPr>
          <a:xfrm>
            <a:off x="548640" y="5029200"/>
            <a:ext cx="6400800" cy="548640"/>
          </a:xfrm>
          <a:prstGeom prst="rect">
            <a:avLst/>
          </a:prstGeom>
          <a:solidFill>
            <a:srgbClr val="FDEEEE"/>
          </a:solidFill>
          <a:ln w="12700">
            <a:solidFill>
              <a:srgbClr val="FDEEEE"/>
            </a:solidFill>
            <a:prstDash val="solid"/>
          </a:ln>
        </p:spPr>
      </p:sp>
      <p:sp>
        <p:nvSpPr>
          <p:cNvPr id="21" name="notebar-630"/>
          <p:cNvSpPr/>
          <p:nvPr/>
        </p:nvSpPr>
        <p:spPr>
          <a:xfrm>
            <a:off x="548640" y="5029200"/>
            <a:ext cx="64008" cy="5486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-631"/>
          <p:cNvSpPr txBox="1"/>
          <p:nvPr/>
        </p:nvSpPr>
        <p:spPr>
          <a:xfrm>
            <a:off x="777240" y="50292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주소에는 아직 인증이 없습니다. 사내망에서만 사용하세요.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-632"/>
          <p:cNvSpPr txBox="1"/>
          <p:nvPr/>
        </p:nvSpPr>
        <p:spPr>
          <a:xfrm>
            <a:off x="731520" y="214884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2286000" y="233172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내 계정과 설정</a:t>
            </a:r>
            <a:endParaRPr lang="en-US" sz="3800" dirty="0"/>
          </a:p>
        </p:txBody>
      </p:sp>
      <p:sp>
        <p:nvSpPr>
          <p:cNvPr id="4" name="t-633"/>
          <p:cNvSpPr txBox="1"/>
          <p:nvPr/>
        </p:nvSpPr>
        <p:spPr>
          <a:xfrm>
            <a:off x="2286000" y="324612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 · 언어 · 탈퇴 · 자주 묻는 질문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CC2FF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3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3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내 계정</a:t>
            </a:r>
            <a:endParaRPr lang="en-US" sz="2600" dirty="0"/>
          </a:p>
        </p:txBody>
      </p:sp>
      <p:sp>
        <p:nvSpPr>
          <p:cNvPr id="5" name="t-636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메뉴에서 합니다</a:t>
            </a:r>
            <a:endParaRPr lang="en-US" sz="1400" dirty="0"/>
          </a:p>
        </p:txBody>
      </p:sp>
      <p:sp>
        <p:nvSpPr>
          <p:cNvPr id="6" name="frame-637"/>
          <p:cNvSpPr/>
          <p:nvPr/>
        </p:nvSpPr>
        <p:spPr>
          <a:xfrm>
            <a:off x="732571" y="1645920"/>
            <a:ext cx="2923978" cy="356616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38" descr="화면: b-member-men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571" y="1645920"/>
            <a:ext cx="2923978" cy="3566160"/>
          </a:xfrm>
          <a:prstGeom prst="rect">
            <a:avLst/>
          </a:prstGeom>
        </p:spPr>
      </p:pic>
      <p:sp>
        <p:nvSpPr>
          <p:cNvPr id="8" name="mark-639"/>
          <p:cNvSpPr/>
          <p:nvPr/>
        </p:nvSpPr>
        <p:spPr>
          <a:xfrm>
            <a:off x="932846" y="2802636"/>
            <a:ext cx="2523429" cy="569556"/>
          </a:xfrm>
          <a:prstGeom prst="roundRect">
            <a:avLst>
              <a:gd name="adj" fmla="val 642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9" name="markdot-640"/>
          <p:cNvSpPr/>
          <p:nvPr/>
        </p:nvSpPr>
        <p:spPr>
          <a:xfrm>
            <a:off x="786542" y="2656332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-641"/>
          <p:cNvSpPr txBox="1"/>
          <p:nvPr/>
        </p:nvSpPr>
        <p:spPr>
          <a:xfrm>
            <a:off x="786542" y="26563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mark-642"/>
          <p:cNvSpPr/>
          <p:nvPr/>
        </p:nvSpPr>
        <p:spPr>
          <a:xfrm>
            <a:off x="932846" y="3362837"/>
            <a:ext cx="2523429" cy="569556"/>
          </a:xfrm>
          <a:prstGeom prst="roundRect">
            <a:avLst>
              <a:gd name="adj" fmla="val 6422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2" name="markdot-643"/>
          <p:cNvSpPr/>
          <p:nvPr/>
        </p:nvSpPr>
        <p:spPr>
          <a:xfrm>
            <a:off x="786542" y="3216533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-644"/>
          <p:cNvSpPr txBox="1"/>
          <p:nvPr/>
        </p:nvSpPr>
        <p:spPr>
          <a:xfrm>
            <a:off x="786542" y="3216533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mark-645"/>
          <p:cNvSpPr/>
          <p:nvPr/>
        </p:nvSpPr>
        <p:spPr>
          <a:xfrm>
            <a:off x="932846" y="3868385"/>
            <a:ext cx="2523429" cy="528565"/>
          </a:xfrm>
          <a:prstGeom prst="roundRect">
            <a:avLst>
              <a:gd name="adj" fmla="val 6920"/>
            </a:avLst>
          </a:prstGeom>
          <a:ln w="28575">
            <a:solidFill>
              <a:srgbClr val="F59E0B"/>
            </a:solidFill>
            <a:prstDash val="solid"/>
          </a:ln>
        </p:spPr>
      </p:sp>
      <p:sp>
        <p:nvSpPr>
          <p:cNvPr id="15" name="markdot-646"/>
          <p:cNvSpPr/>
          <p:nvPr/>
        </p:nvSpPr>
        <p:spPr>
          <a:xfrm>
            <a:off x="786542" y="3722081"/>
            <a:ext cx="292608" cy="292608"/>
          </a:xfrm>
          <a:prstGeom prst="ellipse">
            <a:avLst/>
          </a:prstGeom>
          <a:solidFill>
            <a:srgbClr val="F59E0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-647"/>
          <p:cNvSpPr txBox="1"/>
          <p:nvPr/>
        </p:nvSpPr>
        <p:spPr>
          <a:xfrm>
            <a:off x="786542" y="3722081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frame-648"/>
          <p:cNvSpPr/>
          <p:nvPr/>
        </p:nvSpPr>
        <p:spPr>
          <a:xfrm>
            <a:off x="4114800" y="2511987"/>
            <a:ext cx="3566160" cy="183402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18" name="screen-649" descr="화면: b-passwo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2511987"/>
            <a:ext cx="3566160" cy="1834025"/>
          </a:xfrm>
          <a:prstGeom prst="rect">
            <a:avLst/>
          </a:prstGeom>
        </p:spPr>
      </p:pic>
      <p:sp>
        <p:nvSpPr>
          <p:cNvPr id="19" name="step-650"/>
          <p:cNvSpPr/>
          <p:nvPr/>
        </p:nvSpPr>
        <p:spPr>
          <a:xfrm>
            <a:off x="8001000" y="178308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-651"/>
          <p:cNvSpPr txBox="1"/>
          <p:nvPr/>
        </p:nvSpPr>
        <p:spPr>
          <a:xfrm>
            <a:off x="8001000" y="1783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-652"/>
          <p:cNvSpPr txBox="1"/>
          <p:nvPr/>
        </p:nvSpPr>
        <p:spPr>
          <a:xfrm>
            <a:off x="8476488" y="173736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비밀번호 바꾸기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비밀번호와 새 비밀번호(10자 이상)를 입력합니다. 바꾸면 다른 곳의 로그인은 끊깁니다.</a:t>
            </a:r>
            <a:endParaRPr lang="en-US" sz="1400" dirty="0"/>
          </a:p>
        </p:txBody>
      </p:sp>
      <p:sp>
        <p:nvSpPr>
          <p:cNvPr id="22" name="step-653"/>
          <p:cNvSpPr/>
          <p:nvPr/>
        </p:nvSpPr>
        <p:spPr>
          <a:xfrm>
            <a:off x="8001000" y="306324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-654"/>
          <p:cNvSpPr txBox="1"/>
          <p:nvPr/>
        </p:nvSpPr>
        <p:spPr>
          <a:xfrm>
            <a:off x="8001000" y="3063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-655"/>
          <p:cNvSpPr txBox="1"/>
          <p:nvPr/>
        </p:nvSpPr>
        <p:spPr>
          <a:xfrm>
            <a:off x="8476488" y="301752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공용 PC에서는 꼭 로그아웃하세요.</a:t>
            </a:r>
            <a:endParaRPr lang="en-US" sz="1400" dirty="0"/>
          </a:p>
        </p:txBody>
      </p:sp>
      <p:sp>
        <p:nvSpPr>
          <p:cNvPr id="25" name="step-656"/>
          <p:cNvSpPr/>
          <p:nvPr/>
        </p:nvSpPr>
        <p:spPr>
          <a:xfrm>
            <a:off x="8001000" y="4343400"/>
            <a:ext cx="329184" cy="3291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-657"/>
          <p:cNvSpPr txBox="1"/>
          <p:nvPr/>
        </p:nvSpPr>
        <p:spPr>
          <a:xfrm>
            <a:off x="8001000" y="43434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-658"/>
          <p:cNvSpPr txBox="1"/>
          <p:nvPr/>
        </p:nvSpPr>
        <p:spPr>
          <a:xfrm>
            <a:off x="8476488" y="4297680"/>
            <a:ext cx="3136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F1B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탈퇴 — 계정 지우기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계정과 올린 파일이 바로 삭제되며 되돌릴 수 없습니다.</a:t>
            </a:r>
            <a:endParaRPr lang="en-US" sz="1400" dirty="0"/>
          </a:p>
        </p:txBody>
      </p:sp>
      <p:sp>
        <p:nvSpPr>
          <p:cNvPr id="28" name="note-659"/>
          <p:cNvSpPr/>
          <p:nvPr/>
        </p:nvSpPr>
        <p:spPr>
          <a:xfrm>
            <a:off x="548640" y="5486400"/>
            <a:ext cx="7132320" cy="54864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29" name="notebar-660"/>
          <p:cNvSpPr/>
          <p:nvPr/>
        </p:nvSpPr>
        <p:spPr>
          <a:xfrm>
            <a:off x="548640" y="5486400"/>
            <a:ext cx="64008" cy="54864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0" name="t-661"/>
          <p:cNvSpPr txBox="1"/>
          <p:nvPr/>
        </p:nvSpPr>
        <p:spPr>
          <a:xfrm>
            <a:off x="777240" y="54864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비밀번호를 잊었다면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관리자에게 「비밀번호 초기화」를 요청하세요.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62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63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언어 · 검사 규칙 보기</a:t>
            </a:r>
            <a:endParaRPr lang="en-US" sz="2600" dirty="0"/>
          </a:p>
        </p:txBody>
      </p:sp>
      <p:sp>
        <p:nvSpPr>
          <p:cNvPr id="5" name="t-664"/>
          <p:cNvSpPr txBox="1"/>
          <p:nvPr/>
        </p:nvSpPr>
        <p:spPr>
          <a:xfrm>
            <a:off x="548640" y="1152144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B5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 ▾ → 언어 / 규칙과 규약 보기</a:t>
            </a:r>
            <a:endParaRPr lang="en-US" sz="1400" dirty="0"/>
          </a:p>
        </p:txBody>
      </p:sp>
      <p:sp>
        <p:nvSpPr>
          <p:cNvPr id="6" name="frame-665"/>
          <p:cNvSpPr/>
          <p:nvPr/>
        </p:nvSpPr>
        <p:spPr>
          <a:xfrm>
            <a:off x="548640" y="1666897"/>
            <a:ext cx="5120640" cy="2244045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7" name="screen-666" descr="화면: a-l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66897"/>
            <a:ext cx="5120640" cy="2244045"/>
          </a:xfrm>
          <a:prstGeom prst="rect">
            <a:avLst/>
          </a:prstGeom>
        </p:spPr>
      </p:pic>
      <p:sp>
        <p:nvSpPr>
          <p:cNvPr id="8" name="frame-667"/>
          <p:cNvSpPr/>
          <p:nvPr/>
        </p:nvSpPr>
        <p:spPr>
          <a:xfrm>
            <a:off x="6080760" y="1645920"/>
            <a:ext cx="5486400" cy="4114800"/>
          </a:xfrm>
          <a:prstGeom prst="rect">
            <a:avLst/>
          </a:prstGeom>
          <a:solidFill>
            <a:srgbClr val="0F1B2D"/>
          </a:solidFill>
          <a:ln w="9525">
            <a:solidFill>
              <a:srgbClr val="C9D2DE"/>
            </a:solidFill>
            <a:prstDash val="solid"/>
          </a:ln>
          <a:effectLst>
            <a:outerShdw sx="100000" sy="100000" kx="0" ky="0" algn="bl" rotWithShape="0" blurRad="127000" dist="38100" dir="5400000">
              <a:srgbClr val="0F1B2D">
                <a:alpha val="18000"/>
              </a:srgbClr>
            </a:outerShdw>
          </a:effectLst>
        </p:spPr>
      </p:sp>
      <p:pic>
        <p:nvPicPr>
          <p:cNvPr id="9" name="screen-668" descr="화면: a-ru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45920"/>
            <a:ext cx="5486400" cy="4114800"/>
          </a:xfrm>
          <a:prstGeom prst="rect">
            <a:avLst/>
          </a:prstGeom>
        </p:spPr>
      </p:pic>
      <p:sp>
        <p:nvSpPr>
          <p:cNvPr id="10" name="t-669"/>
          <p:cNvSpPr txBox="1"/>
          <p:nvPr/>
        </p:nvSpPr>
        <p:spPr>
          <a:xfrm>
            <a:off x="548640" y="40416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언어 — 한국어 / English (이 브라우저에만 저장)</a:t>
            </a:r>
            <a:endParaRPr lang="en-US" sz="1150" dirty="0"/>
          </a:p>
        </p:txBody>
      </p:sp>
      <p:sp>
        <p:nvSpPr>
          <p:cNvPr id="11" name="t-670"/>
          <p:cNvSpPr txBox="1"/>
          <p:nvPr/>
        </p:nvSpPr>
        <p:spPr>
          <a:xfrm>
            <a:off x="6035040" y="58521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규칙 43종과 작성 규약</a:t>
            </a:r>
            <a:endParaRPr lang="en-US" sz="1150" dirty="0"/>
          </a:p>
        </p:txBody>
      </p:sp>
      <p:sp>
        <p:nvSpPr>
          <p:cNvPr id="12" name="note-671"/>
          <p:cNvSpPr/>
          <p:nvPr/>
        </p:nvSpPr>
        <p:spPr>
          <a:xfrm>
            <a:off x="548640" y="4572000"/>
            <a:ext cx="5120640" cy="73152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13" name="notebar-672"/>
          <p:cNvSpPr/>
          <p:nvPr/>
        </p:nvSpPr>
        <p:spPr>
          <a:xfrm>
            <a:off x="548640" y="4572000"/>
            <a:ext cx="64008" cy="73152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14" name="t-673"/>
          <p:cNvSpPr txBox="1"/>
          <p:nvPr/>
        </p:nvSpPr>
        <p:spPr>
          <a:xfrm>
            <a:off x="777240" y="45720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 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English로 바꿔도 검사 결과 문구와 검증 결과서는 한국어로 나옵니다.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r-674"/>
          <p:cNvSpPr/>
          <p:nvPr/>
        </p:nvSpPr>
        <p:spPr>
          <a:xfrm>
            <a:off x="548640" y="329184"/>
            <a:ext cx="384048" cy="54864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75"/>
          <p:cNvSpPr txBox="1"/>
          <p:nvPr/>
        </p:nvSpPr>
        <p:spPr>
          <a:xfrm>
            <a:off x="1024128" y="228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계정과 설정</a:t>
            </a:r>
            <a:endParaRPr lang="en-US" sz="11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B2D"/>
                </a:solidFill>
              </a:rPr>
              <a:t>자주 묻는 질문</a:t>
            </a:r>
            <a:endParaRPr lang="en-US" sz="2600" dirty="0"/>
          </a:p>
        </p:txBody>
      </p:sp>
      <p:graphicFrame>
        <p:nvGraphicFramePr>
          <p:cNvPr id="39" name="table-6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답</a:t>
                      </a:r>
                      <a:endParaRPr lang="en-US" sz="13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B2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내려받기 단추에 자물쇠가 있어요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계정이라서입니다. 회원가입하면 내려받을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견본을 누르면 회원가입 안내가 나와요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견본은 회원가입 후 사용할 수 있습니다.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계정으로 만든 파일이 사라졌어요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체험판은 일정 시간 후 초기화 됩니다. 계속 쓰려면 회원가입하세요.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로그인이 안 돼요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5번 틀리면 5분간 막힙니다. 비밀번호를 잊었다면 관리자에게 초기화를 요청하세요.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위반 0건이면 KOSMO Validator도 통과하나요?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대부분 그렇지만 보장하지는 않습니다. 공식 판정은 KOSMO Validator가 합니다 — 이 도구는 사전 점검입니다.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이름의 파일이 두 개가 됐어요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파일을 다시 올린 것입니다. 파일 목록에서 하나를 지우세요.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 정보를 지우고 싶어요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▾ → 탈퇴. 계정과 올린 파일이 함께 삭제됩니다.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14300" marR="114300" marT="63500" marB="63500" anchor="ctr">
                    <a:lnL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50">
                <a:solidFill>
                  <a:srgbClr val="8A94A6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7CF6"/>
          </a:solidFill>
          <a:ln w="12700">
            <a:solidFill>
              <a:srgbClr val="2F7CF6"/>
            </a:solidFill>
            <a:prstDash val="solid"/>
          </a:ln>
        </p:spPr>
      </p:sp>
      <p:sp>
        <p:nvSpPr>
          <p:cNvPr id="3" name="t-677"/>
          <p:cNvSpPr txBox="1"/>
          <p:nvPr/>
        </p:nvSpPr>
        <p:spPr>
          <a:xfrm>
            <a:off x="731520" y="12344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600" kern="0" dirty="0">
                <a:solidFill>
                  <a:srgbClr val="2F7C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VEXPLOR</a:t>
            </a:r>
            <a:endParaRPr lang="en-US" sz="2600" dirty="0"/>
          </a:p>
        </p:txBody>
      </p:sp>
      <p:sp>
        <p:nvSpPr>
          <p:cNvPr id="4" name="t-678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처음이라면, 이렇게</a:t>
            </a:r>
            <a:endParaRPr lang="en-US" sz="4400" dirty="0"/>
          </a:p>
        </p:txBody>
      </p:sp>
      <p:sp>
        <p:nvSpPr>
          <p:cNvPr id="5" name="t-679"/>
          <p:cNvSpPr txBox="1"/>
          <p:nvPr/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체험 계정으로 둘러보기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회원가입 → 견본 열기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「다른 파일에서 가져오기」로 내 설비 만들기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9CC2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검사 · 자동 고치기 → AASX 내려받기</a:t>
            </a:r>
            <a:endParaRPr lang="en-US" sz="1700" dirty="0"/>
          </a:p>
        </p:txBody>
      </p:sp>
      <p:sp>
        <p:nvSpPr>
          <p:cNvPr id="6" name="t-680"/>
          <p:cNvSpPr txBox="1"/>
          <p:nvPr/>
        </p:nvSpPr>
        <p:spPr>
          <a:xfrm>
            <a:off x="731520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© 2026 WACE  ·  VEXPLOR AAS Studio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XPLOR Manual">
  <a:themeElements>
    <a:clrScheme name="VEXPLOR Manual">
      <a:dk1>
        <a:srgbClr val="1F2937"/>
      </a:dk1>
      <a:lt1>
        <a:srgbClr val="FFFFFF"/>
      </a:lt1>
      <a:dk2>
        <a:srgbClr val="0F1B2D"/>
      </a:dk2>
      <a:lt2>
        <a:srgbClr val="F3F6FB"/>
      </a:lt2>
      <a:accent1>
        <a:srgbClr val="2F7CF6"/>
      </a:accent1>
      <a:accent2>
        <a:srgbClr val="16A34A"/>
      </a:accent2>
      <a:accent3>
        <a:srgbClr val="F59E0B"/>
      </a:accent3>
      <a:accent4>
        <a:srgbClr val="DC2626"/>
      </a:accent4>
      <a:accent5>
        <a:srgbClr val="8A94A6"/>
      </a:accent5>
      <a:accent6>
        <a:srgbClr val="9CC2FF"/>
      </a:accent6>
      <a:hlink>
        <a:srgbClr val="2F7CF6"/>
      </a:hlink>
      <a:folHlink>
        <a:srgbClr val="8A94A6"/>
      </a:folHlink>
    </a:clrScheme>
    <a:fontScheme name="VEXPLOR Manual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WACE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VEXPLOR AAS Studio 사용자 매뉴얼</dc:title>
  <dc:subject>PptxGenJS Presentation</dc:subject>
  <dc:creator>WACE</dc:creator>
  <cp:lastModifiedBy>WACE</cp:lastModifiedBy>
  <cp:revision>1</cp:revision>
  <dcterms:created xsi:type="dcterms:W3CDTF">2026-10-07T06:23:28Z</dcterms:created>
  <dcterms:modified xsi:type="dcterms:W3CDTF">2026-10-07T06:23:28Z</dcterms:modified>
</cp:coreProperties>
</file>