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d5cc6a0-a224-0672-7da6-36bca74fa477}">
          <p14:sldIdLst>
            <p14:sldId id="256"/>
          </p14:sldIdLst>
        </p14:section>
        <p14:section name="소개" id="{ab81f1fd-cbe6-18a4-cff9-c915383aa27e}">
          <p14:sldIdLst>
            <p14:sldId id="257"/>
            <p14:sldId id="258"/>
          </p14:sldIdLst>
        </p14:section>
        <p14:section name="들어가기" id="{c9658007-7303-0e7f-c07f-9c06ff373f01}">
          <p14:sldIdLst>
            <p14:sldId id="259"/>
            <p14:sldId id="260"/>
            <p14:sldId id="261"/>
            <p14:sldId id="262"/>
            <p14:sldId id="263"/>
          </p14:sldIdLst>
        </p14:section>
        <p14:section name="화면 익히기" id="{1af1a7b5-7b25-4daa-edd4-5635ad690c3e}">
          <p14:sldIdLst>
            <p14:sldId id="264"/>
            <p14:sldId id="265"/>
            <p14:sldId id="266"/>
          </p14:sldIdLst>
        </p14:section>
        <p14:section name="설비 만들고 고치기" id="{cb48c771-7ab5-dd2f-1a24-d7a2972c09ac}">
          <p14:sldIdLst>
            <p14:sldId id="267"/>
            <p14:sldId id="268"/>
            <p14:sldId id="269"/>
            <p14:sldId id="270"/>
            <p14:sldId id="271"/>
          </p14:sldIdLst>
        </p14:section>
        <p14:section name="검사 · 자동 고치기 · 내보내기" id="{87c54cf0-ecc9-67de-1663-7c5a50f5f59a}">
          <p14:sldIdLst>
            <p14:sldId id="272"/>
            <p14:sldId id="273"/>
            <p14:sldId id="274"/>
            <p14:sldId id="275"/>
            <p14:sldId id="276"/>
          </p14:sldIdLst>
        </p14:section>
        <p14:section name="공정 묶음 · 레퍼런스 번들" id="{64775eaa-cb04-34d4-391f-9c1e23e24b89}">
          <p14:sldIdLst>
            <p14:sldId id="277"/>
            <p14:sldId id="278"/>
            <p14:sldId id="279"/>
          </p14:sldIdLst>
        </p14:section>
        <p14:section name="현장 값 수집 · 내주기" id="{775e755f-e6c4-9a3d-bdb6-f834d4a90cd5}">
          <p14:sldIdLst>
            <p14:sldId id="280"/>
            <p14:sldId id="281"/>
            <p14:sldId id="282"/>
          </p14:sldIdLst>
        </p14:section>
        <p14:section name="내 계정과 설정" id="{243e4692-cc98-3a25-c88e-5e7e699469d4}">
          <p14:sldIdLst>
            <p14:sldId id="283"/>
            <p14:sldId id="284"/>
            <p14:sldId id="285"/>
            <p14:sldId id="286"/>
          </p14:sldIdLst>
        </p14:section>
        <p14:section name="자주 묻는 것" id="{8a4ec4bb-581a-4320-eceb-3fb4ba8d72c7}">
          <p14:sldIdLst>
            <p14:sldId id="287"/>
          </p14:sldIdLst>
        </p14:section>
        <p14:section name="마무리" id="{dea8378a-9bea-baf3-8e36-88b7604ebbe6}">
          <p14:sldIdLst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 AAS Studio 사용자 매뉴얼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-1"/>
          <p:cNvSpPr txBox="1"/>
          <p:nvPr/>
        </p:nvSpPr>
        <p:spPr>
          <a:xfrm>
            <a:off x="731520" y="1280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400" kern="0" dirty="0">
                <a:solidFill>
                  <a:schemeClr val="accent1"/>
                </a:solidFill>
              </a:rPr>
              <a:t>VEXPLOR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AAS Studio 사용자 매뉴얼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처음 쓰는 사람을 위한 따라 하기 — 로그인부터 내려받기까지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모든 그림은 실제 화면입니다</a:t>
            </a:r>
            <a:endParaRPr lang="en-US" sz="2000" dirty="0"/>
          </a:p>
        </p:txBody>
      </p:sp>
      <p:sp>
        <p:nvSpPr>
          <p:cNvPr id="5" name="foot-2"/>
          <p:cNvSpPr txBox="1"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v1.1.0 · 2026-10 · WACE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세 가지 도구가 하던 일을 한 화면에서</a:t>
            </a:r>
            <a:endParaRPr lang="en-US" sz="3000" dirty="0"/>
          </a:p>
        </p:txBody>
      </p:sp>
      <p:sp>
        <p:nvSpPr>
          <p:cNvPr id="3" name="card-3"/>
          <p:cNvSpPr/>
          <p:nvPr/>
        </p:nvSpPr>
        <p:spPr>
          <a:xfrm>
            <a:off x="548640" y="1325880"/>
            <a:ext cx="3505200" cy="4206240"/>
          </a:xfrm>
          <a:prstGeom prst="roundRect">
            <a:avLst>
              <a:gd name="adj" fmla="val 3130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4" name="cardno-4"/>
          <p:cNvSpPr/>
          <p:nvPr/>
        </p:nvSpPr>
        <p:spPr>
          <a:xfrm>
            <a:off x="822960" y="16002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ardn-5"/>
          <p:cNvSpPr txBox="1"/>
          <p:nvPr/>
        </p:nvSpPr>
        <p:spPr>
          <a:xfrm>
            <a:off x="82296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cardh-6"/>
          <p:cNvSpPr txBox="1"/>
          <p:nvPr/>
        </p:nvSpPr>
        <p:spPr>
          <a:xfrm>
            <a:off x="822960" y="233172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AASX 편집</a:t>
            </a:r>
            <a:endParaRPr lang="en-US" sz="1900" dirty="0"/>
          </a:p>
        </p:txBody>
      </p:sp>
      <p:sp>
        <p:nvSpPr>
          <p:cNvPr id="7" name="cardd-7"/>
          <p:cNvSpPr txBox="1"/>
          <p:nvPr/>
        </p:nvSpPr>
        <p:spPr>
          <a:xfrm>
            <a:off x="822960" y="2834640"/>
            <a:ext cx="2956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예전: AASX Package Explorer(설치형)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여기서는: 브라우저에서 열고 고치고 내려받습니다. 고칠 자리를 짚어 주고 자동으로 고칩니다</a:t>
            </a:r>
            <a:endParaRPr lang="en-US" sz="1300" dirty="0"/>
          </a:p>
        </p:txBody>
      </p:sp>
      <p:sp>
        <p:nvSpPr>
          <p:cNvPr id="8" name="card-8"/>
          <p:cNvSpPr/>
          <p:nvPr/>
        </p:nvSpPr>
        <p:spPr>
          <a:xfrm>
            <a:off x="4328160" y="1325880"/>
            <a:ext cx="3505200" cy="4206240"/>
          </a:xfrm>
          <a:prstGeom prst="roundRect">
            <a:avLst>
              <a:gd name="adj" fmla="val 3130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9" name="cardno-9"/>
          <p:cNvSpPr/>
          <p:nvPr/>
        </p:nvSpPr>
        <p:spPr>
          <a:xfrm>
            <a:off x="4602480" y="16002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ardn-10"/>
          <p:cNvSpPr txBox="1"/>
          <p:nvPr/>
        </p:nvSpPr>
        <p:spPr>
          <a:xfrm>
            <a:off x="460248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cardh-11"/>
          <p:cNvSpPr txBox="1"/>
          <p:nvPr/>
        </p:nvSpPr>
        <p:spPr>
          <a:xfrm>
            <a:off x="4602480" y="233172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AAS 서버</a:t>
            </a:r>
            <a:endParaRPr lang="en-US" sz="1900" dirty="0"/>
          </a:p>
        </p:txBody>
      </p:sp>
      <p:sp>
        <p:nvSpPr>
          <p:cNvPr id="12" name="cardd-12"/>
          <p:cNvSpPr txBox="1"/>
          <p:nvPr/>
        </p:nvSpPr>
        <p:spPr>
          <a:xfrm>
            <a:off x="4602480" y="2834640"/>
            <a:ext cx="2956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예전: Eclipse BaSyx 서버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여기서는: 같은 서버가 표준 API(IDTA Part 2)로 다른 시스템에 내줍니다</a:t>
            </a:r>
            <a:endParaRPr lang="en-US" sz="1300" dirty="0"/>
          </a:p>
        </p:txBody>
      </p:sp>
      <p:sp>
        <p:nvSpPr>
          <p:cNvPr id="13" name="card-13"/>
          <p:cNvSpPr/>
          <p:nvPr/>
        </p:nvSpPr>
        <p:spPr>
          <a:xfrm>
            <a:off x="8107680" y="1325880"/>
            <a:ext cx="3505200" cy="4206240"/>
          </a:xfrm>
          <a:prstGeom prst="roundRect">
            <a:avLst>
              <a:gd name="adj" fmla="val 3130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14" name="cardno-14"/>
          <p:cNvSpPr/>
          <p:nvPr/>
        </p:nvSpPr>
        <p:spPr>
          <a:xfrm>
            <a:off x="8382000" y="16002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ardn-15"/>
          <p:cNvSpPr txBox="1"/>
          <p:nvPr/>
        </p:nvSpPr>
        <p:spPr>
          <a:xfrm>
            <a:off x="838200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cardh-16"/>
          <p:cNvSpPr txBox="1"/>
          <p:nvPr/>
        </p:nvSpPr>
        <p:spPr>
          <a:xfrm>
            <a:off x="8382000" y="233172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OPC UA</a:t>
            </a:r>
            <a:endParaRPr lang="en-US" sz="1900" dirty="0"/>
          </a:p>
        </p:txBody>
      </p:sp>
      <p:sp>
        <p:nvSpPr>
          <p:cNvPr id="17" name="cardd-17"/>
          <p:cNvSpPr txBox="1"/>
          <p:nvPr/>
        </p:nvSpPr>
        <p:spPr>
          <a:xfrm>
            <a:off x="8382000" y="2834640"/>
            <a:ext cx="2956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예전: 별도 OPC UA 클라이언트·서버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여기서는: 설비 값을 모으고, 상위 앱에 구독으로 내줍니다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위 도구들과 제휴하거나 그 소스를 쓴 것이 아닙니다 — 같은 일을 하나로 묶었다는 뜻입니다.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한눈에 보는 작업 흐름</a:t>
            </a:r>
            <a:endParaRPr lang="en-US" sz="3000" dirty="0"/>
          </a:p>
        </p:txBody>
      </p:sp>
      <p:graphicFrame>
        <p:nvGraphicFramePr>
          <p:cNvPr id="4" name="table-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603504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들어가기 — 체험 계정 또는 회원 로그인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화면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— 견본 · 내 AASX · 번들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화면 · 파일 ▾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고치기 — 값 · 요소 · 서브모델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왼쪽 트리 · 가운데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→ 자동 고치기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칩 · 자동 고치기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내보내기 — AASX · 결과서 · 문서 자료 · 번들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뽑아내기 ▾ · AASX 내려받기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(필요하면) 현장 값 수집 · 내주기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오른쪽 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4" name="note-19"/>
          <p:cNvSpPr/>
          <p:nvPr/>
        </p:nvSpPr>
        <p:spPr>
          <a:xfrm>
            <a:off x="548640" y="525780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5" name="notetext-20"/>
          <p:cNvSpPr txBox="1"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🔴 최종 합격 판정은 제출처 검증기(KOSMO Validator)가 합니다. 이 도구는 제출 전에 미리 걸러 주는 사전 점검입니다.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no-21"/>
          <p:cNvSpPr/>
          <p:nvPr/>
        </p:nvSpPr>
        <p:spPr>
          <a:xfrm>
            <a:off x="731520" y="26974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ecnum-22"/>
          <p:cNvSpPr txBox="1"/>
          <p:nvPr/>
        </p:nvSpPr>
        <p:spPr>
          <a:xfrm>
            <a:off x="73152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들어가기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로그인 · 체험 계정 · 회원가입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첫 화면 — 로그인</a:t>
            </a:r>
            <a:endParaRPr lang="en-US" sz="3000" dirty="0"/>
          </a:p>
        </p:txBody>
      </p:sp>
      <p:sp>
        <p:nvSpPr>
          <p:cNvPr id="3" name="frame-23"/>
          <p:cNvSpPr/>
          <p:nvPr/>
        </p:nvSpPr>
        <p:spPr>
          <a:xfrm>
            <a:off x="715794" y="1106424"/>
            <a:ext cx="3871933" cy="519379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24" descr="crops/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70" y="1143000"/>
            <a:ext cx="3798781" cy="5120640"/>
          </a:xfrm>
          <a:prstGeom prst="rect">
            <a:avLst/>
          </a:prstGeom>
        </p:spPr>
      </p:pic>
      <p:sp>
        <p:nvSpPr>
          <p:cNvPr id="5" name="step-25"/>
          <p:cNvSpPr/>
          <p:nvPr/>
        </p:nvSpPr>
        <p:spPr>
          <a:xfrm>
            <a:off x="521208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26"/>
          <p:cNvSpPr txBox="1"/>
          <p:nvPr/>
        </p:nvSpPr>
        <p:spPr>
          <a:xfrm>
            <a:off x="52120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27"/>
          <p:cNvSpPr txBox="1"/>
          <p:nvPr/>
        </p:nvSpPr>
        <p:spPr>
          <a:xfrm>
            <a:off x="5760720" y="1271016"/>
            <a:ext cx="5943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회원이면 위의 로그인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로그인 이름과 비밀번호를 넣고 「로그인」</a:t>
            </a:r>
            <a:endParaRPr lang="en-US" sz="1600" dirty="0"/>
          </a:p>
        </p:txBody>
      </p:sp>
      <p:sp>
        <p:nvSpPr>
          <p:cNvPr id="8" name="step-28"/>
          <p:cNvSpPr/>
          <p:nvPr/>
        </p:nvSpPr>
        <p:spPr>
          <a:xfrm>
            <a:off x="5212080" y="2697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29"/>
          <p:cNvSpPr txBox="1"/>
          <p:nvPr/>
        </p:nvSpPr>
        <p:spPr>
          <a:xfrm>
            <a:off x="521208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30"/>
          <p:cNvSpPr txBox="1"/>
          <p:nvPr/>
        </p:nvSpPr>
        <p:spPr>
          <a:xfrm>
            <a:off x="5760720" y="2642616"/>
            <a:ext cx="5943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처음이면 「처음이신가요? 회원가입」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가입하면 작업한 파일을 내려받을 수 있습니다</a:t>
            </a:r>
            <a:endParaRPr lang="en-US" sz="1600" dirty="0"/>
          </a:p>
        </p:txBody>
      </p:sp>
      <p:sp>
        <p:nvSpPr>
          <p:cNvPr id="11" name="step-31"/>
          <p:cNvSpPr/>
          <p:nvPr/>
        </p:nvSpPr>
        <p:spPr>
          <a:xfrm>
            <a:off x="521208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32"/>
          <p:cNvSpPr txBox="1"/>
          <p:nvPr/>
        </p:nvSpPr>
        <p:spPr>
          <a:xfrm>
            <a:off x="521208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33"/>
          <p:cNvSpPr txBox="1"/>
          <p:nvPr/>
        </p:nvSpPr>
        <p:spPr>
          <a:xfrm>
            <a:off x="5760720" y="4014216"/>
            <a:ext cx="5943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가입 없이 먼저 써 보기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아래 체험 계정(admin / 1234) — 단추 하나로 들어갑니다</a:t>
            </a:r>
            <a:endParaRPr lang="en-US" sz="1600" dirty="0"/>
          </a:p>
        </p:txBody>
      </p:sp>
      <p:sp>
        <p:nvSpPr>
          <p:cNvPr id="14" name="note-34"/>
          <p:cNvSpPr/>
          <p:nvPr/>
        </p:nvSpPr>
        <p:spPr>
          <a:xfrm>
            <a:off x="5212080" y="5486400"/>
            <a:ext cx="6492240" cy="640080"/>
          </a:xfrm>
          <a:prstGeom prst="roundRect">
            <a:avLst>
              <a:gd name="adj" fmla="val 11429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5" name="notetext-35"/>
          <p:cNvSpPr txBox="1"/>
          <p:nvPr/>
        </p:nvSpPr>
        <p:spPr>
          <a:xfrm>
            <a:off x="5394960" y="54864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5번 틀리면 5분 동안 그 계정으로 들어올 수 없습니다(비밀번호 대입을 막는 장치).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체험 계정 — 무엇이 되고 무엇이 안 되나</a:t>
            </a:r>
            <a:endParaRPr lang="en-US" sz="3000" dirty="0"/>
          </a:p>
        </p:txBody>
      </p:sp>
      <p:sp>
        <p:nvSpPr>
          <p:cNvPr id="3" name="frame-36"/>
          <p:cNvSpPr/>
          <p:nvPr/>
        </p:nvSpPr>
        <p:spPr>
          <a:xfrm>
            <a:off x="512064" y="1152144"/>
            <a:ext cx="5925312" cy="336499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37" descr="shots2/u04-demo-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852160" cy="3291840"/>
          </a:xfrm>
          <a:prstGeom prst="rect">
            <a:avLst/>
          </a:prstGeom>
        </p:spPr>
      </p:pic>
      <p:sp>
        <p:nvSpPr>
          <p:cNvPr id="5" name="step-38"/>
          <p:cNvSpPr/>
          <p:nvPr/>
        </p:nvSpPr>
        <p:spPr>
          <a:xfrm>
            <a:off x="67665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39"/>
          <p:cNvSpPr txBox="1"/>
          <p:nvPr/>
        </p:nvSpPr>
        <p:spPr>
          <a:xfrm>
            <a:off x="67665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40"/>
          <p:cNvSpPr txBox="1"/>
          <p:nvPr/>
        </p:nvSpPr>
        <p:spPr>
          <a:xfrm>
            <a:off x="7315200" y="1271016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노란 띠 — 체험판입니다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올린 파일은 다른 방문자에게 보이지 않고, 한동안 안 쓰면 지워집니다</a:t>
            </a:r>
            <a:endParaRPr lang="en-US" sz="1500" dirty="0"/>
          </a:p>
        </p:txBody>
      </p:sp>
      <p:sp>
        <p:nvSpPr>
          <p:cNvPr id="8" name="step-41"/>
          <p:cNvSpPr/>
          <p:nvPr/>
        </p:nvSpPr>
        <p:spPr>
          <a:xfrm>
            <a:off x="6766560" y="2788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42"/>
          <p:cNvSpPr txBox="1"/>
          <p:nvPr/>
        </p:nvSpPr>
        <p:spPr>
          <a:xfrm>
            <a:off x="676656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43"/>
          <p:cNvSpPr txBox="1"/>
          <p:nvPr/>
        </p:nvSpPr>
        <p:spPr>
          <a:xfrm>
            <a:off x="7315200" y="2734056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오른쪽 위 🔒 AASX 내려받기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누르면 회원가입 화면으로 갑니다</a:t>
            </a:r>
            <a:endParaRPr lang="en-US" sz="1500" dirty="0"/>
          </a:p>
        </p:txBody>
      </p:sp>
      <p:graphicFrame>
        <p:nvGraphicFramePr>
          <p:cNvPr id="7" name="table-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091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20624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 (admin / 1234)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가입한 회원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고치기 · 검사 · 자동 고치기 · 결과서 보기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됩니다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· 번들 · 첨부 내려받기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막힘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파일 보관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로그인할 때마다 새 칸 · 60분 안 쓰면 지움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탈퇴할 때까지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바꾸기 · 탈퇴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수 없음(여럿이 함께 쓰는 계정)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회원가입</a:t>
            </a:r>
            <a:endParaRPr lang="en-US" sz="3000" dirty="0"/>
          </a:p>
        </p:txBody>
      </p:sp>
      <p:sp>
        <p:nvSpPr>
          <p:cNvPr id="3" name="frame-45"/>
          <p:cNvSpPr/>
          <p:nvPr/>
        </p:nvSpPr>
        <p:spPr>
          <a:xfrm>
            <a:off x="860042" y="1060704"/>
            <a:ext cx="3400556" cy="528523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46" descr="crops/c-sign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618" y="1097280"/>
            <a:ext cx="3327404" cy="5212080"/>
          </a:xfrm>
          <a:prstGeom prst="rect">
            <a:avLst/>
          </a:prstGeom>
        </p:spPr>
      </p:pic>
      <p:sp>
        <p:nvSpPr>
          <p:cNvPr id="5" name="step-47"/>
          <p:cNvSpPr/>
          <p:nvPr/>
        </p:nvSpPr>
        <p:spPr>
          <a:xfrm>
            <a:off x="5029200" y="1280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48"/>
          <p:cNvSpPr txBox="1"/>
          <p:nvPr/>
        </p:nvSpPr>
        <p:spPr>
          <a:xfrm>
            <a:off x="502920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49"/>
          <p:cNvSpPr txBox="1"/>
          <p:nvPr/>
        </p:nvSpPr>
        <p:spPr>
          <a:xfrm>
            <a:off x="5577840" y="1225296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아이디 · 이름 · 회사명 · 이메일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모두 적어야 합니다. 아이디는 영문으로 시작(영문·숫자·_ . -)</a:t>
            </a:r>
            <a:endParaRPr lang="en-US" sz="1500" dirty="0"/>
          </a:p>
        </p:txBody>
      </p:sp>
      <p:sp>
        <p:nvSpPr>
          <p:cNvPr id="8" name="step-50"/>
          <p:cNvSpPr/>
          <p:nvPr/>
        </p:nvSpPr>
        <p:spPr>
          <a:xfrm>
            <a:off x="5029200" y="2468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51"/>
          <p:cNvSpPr txBox="1"/>
          <p:nvPr/>
        </p:nvSpPr>
        <p:spPr>
          <a:xfrm>
            <a:off x="502920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52"/>
          <p:cNvSpPr txBox="1"/>
          <p:nvPr/>
        </p:nvSpPr>
        <p:spPr>
          <a:xfrm>
            <a:off x="5577840" y="2414016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비밀번호 두 번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10자 이상. 원문은 저장하지 않습니다(암호화)</a:t>
            </a:r>
            <a:endParaRPr lang="en-US" sz="1500" dirty="0"/>
          </a:p>
        </p:txBody>
      </p:sp>
      <p:sp>
        <p:nvSpPr>
          <p:cNvPr id="11" name="step-53"/>
          <p:cNvSpPr/>
          <p:nvPr/>
        </p:nvSpPr>
        <p:spPr>
          <a:xfrm>
            <a:off x="5029200" y="3657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54"/>
          <p:cNvSpPr txBox="1"/>
          <p:nvPr/>
        </p:nvSpPr>
        <p:spPr>
          <a:xfrm>
            <a:off x="502920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55"/>
          <p:cNvSpPr txBox="1"/>
          <p:nvPr/>
        </p:nvSpPr>
        <p:spPr>
          <a:xfrm>
            <a:off x="5577840" y="3602736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개인정보 수집·이용 동의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무엇을 · 왜 · 언제까지 받는지 읽고 체크합니다. 「개인정보처리방침」 링크로 전문을 볼 수 있습니다</a:t>
            </a:r>
            <a:endParaRPr lang="en-US" sz="1500" dirty="0"/>
          </a:p>
        </p:txBody>
      </p:sp>
      <p:sp>
        <p:nvSpPr>
          <p:cNvPr id="14" name="step-56"/>
          <p:cNvSpPr/>
          <p:nvPr/>
        </p:nvSpPr>
        <p:spPr>
          <a:xfrm>
            <a:off x="502920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tepn-57"/>
          <p:cNvSpPr txBox="1"/>
          <p:nvPr/>
        </p:nvSpPr>
        <p:spPr>
          <a:xfrm>
            <a:off x="502920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text-58"/>
          <p:cNvSpPr txBox="1"/>
          <p:nvPr/>
        </p:nvSpPr>
        <p:spPr>
          <a:xfrm>
            <a:off x="5577840" y="4791456"/>
            <a:ext cx="6126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「가입하고 시작하기」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바로 로그인됩니다. 확인 메일은 보내지 않습니다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견본으로 시작하기</a:t>
            </a:r>
            <a:endParaRPr lang="en-US" sz="3000" dirty="0"/>
          </a:p>
        </p:txBody>
      </p:sp>
      <p:sp>
        <p:nvSpPr>
          <p:cNvPr id="3" name="frame-59"/>
          <p:cNvSpPr/>
          <p:nvPr/>
        </p:nvSpPr>
        <p:spPr>
          <a:xfrm>
            <a:off x="512064" y="1409319"/>
            <a:ext cx="7936992" cy="449656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60" descr="shots/03-sample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895"/>
            <a:ext cx="7863840" cy="4423410"/>
          </a:xfrm>
          <a:prstGeom prst="rect">
            <a:avLst/>
          </a:prstGeom>
        </p:spPr>
      </p:pic>
      <p:sp>
        <p:nvSpPr>
          <p:cNvPr id="5" name="step-61"/>
          <p:cNvSpPr/>
          <p:nvPr/>
        </p:nvSpPr>
        <p:spPr>
          <a:xfrm>
            <a:off x="873252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62"/>
          <p:cNvSpPr txBox="1"/>
          <p:nvPr/>
        </p:nvSpPr>
        <p:spPr>
          <a:xfrm>
            <a:off x="87325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63"/>
          <p:cNvSpPr txBox="1"/>
          <p:nvPr/>
        </p:nvSpPr>
        <p:spPr>
          <a:xfrm>
            <a:off x="9281160" y="127101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첫 화면의 「견본으로 시작하기」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또는 파일 ▾ → 견본 열기</a:t>
            </a:r>
            <a:endParaRPr lang="en-US" sz="1400" dirty="0"/>
          </a:p>
        </p:txBody>
      </p:sp>
      <p:sp>
        <p:nvSpPr>
          <p:cNvPr id="8" name="step-64"/>
          <p:cNvSpPr/>
          <p:nvPr/>
        </p:nvSpPr>
        <p:spPr>
          <a:xfrm>
            <a:off x="8732520" y="2788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65"/>
          <p:cNvSpPr txBox="1"/>
          <p:nvPr/>
        </p:nvSpPr>
        <p:spPr>
          <a:xfrm>
            <a:off x="87325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66"/>
          <p:cNvSpPr txBox="1"/>
          <p:nvPr/>
        </p:nvSpPr>
        <p:spPr>
          <a:xfrm>
            <a:off x="9281160" y="273405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공정 구성이 먼저 열립니다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RB01 공정 → 성형공정 → 롤포밍기 ×2</a:t>
            </a:r>
            <a:endParaRPr lang="en-US" sz="1400" dirty="0"/>
          </a:p>
        </p:txBody>
      </p:sp>
      <p:sp>
        <p:nvSpPr>
          <p:cNvPr id="11" name="step-67"/>
          <p:cNvSpPr/>
          <p:nvPr/>
        </p:nvSpPr>
        <p:spPr>
          <a:xfrm>
            <a:off x="873252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68"/>
          <p:cNvSpPr txBox="1"/>
          <p:nvPr/>
        </p:nvSpPr>
        <p:spPr>
          <a:xfrm>
            <a:off x="873252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69"/>
          <p:cNvSpPr txBox="1"/>
          <p:nvPr/>
        </p:nvSpPr>
        <p:spPr>
          <a:xfrm>
            <a:off x="9281160" y="419709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설비 줄을 누르면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설비 파일(RollFormingMachine_sample)이 열립니다. 고쳐도 되는 연습용입니다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no-70"/>
          <p:cNvSpPr/>
          <p:nvPr/>
        </p:nvSpPr>
        <p:spPr>
          <a:xfrm>
            <a:off x="731520" y="26974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ecnum-71"/>
          <p:cNvSpPr txBox="1"/>
          <p:nvPr/>
        </p:nvSpPr>
        <p:spPr>
          <a:xfrm>
            <a:off x="73152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2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화면 익히기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세 칸 · 머리줄 · 메뉴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화면은 세 칸입니다</a:t>
            </a:r>
            <a:endParaRPr lang="en-US" sz="3000" dirty="0"/>
          </a:p>
        </p:txBody>
      </p:sp>
      <p:sp>
        <p:nvSpPr>
          <p:cNvPr id="3" name="frame-72"/>
          <p:cNvSpPr/>
          <p:nvPr/>
        </p:nvSpPr>
        <p:spPr>
          <a:xfrm>
            <a:off x="512064" y="1169289"/>
            <a:ext cx="8302752" cy="470230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73" descr="shots/04-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5865"/>
            <a:ext cx="8229600" cy="46291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62272" y="1213009"/>
            <a:ext cx="402336" cy="402336"/>
          </a:xfrm>
          <a:prstGeom prst="ellipse">
            <a:avLst/>
          </a:prstGeom>
          <a:solidFill>
            <a:schemeClr val="accent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62272" y="121300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252728" y="2624899"/>
            <a:ext cx="402336" cy="402336"/>
          </a:xfrm>
          <a:prstGeom prst="ellipse">
            <a:avLst/>
          </a:prstGeom>
          <a:solidFill>
            <a:schemeClr val="accent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52728" y="262489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15384" y="2624899"/>
            <a:ext cx="402336" cy="402336"/>
          </a:xfrm>
          <a:prstGeom prst="ellipse">
            <a:avLst/>
          </a:prstGeom>
          <a:solidFill>
            <a:schemeClr val="accent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15384" y="262489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42632" y="2624899"/>
            <a:ext cx="402336" cy="402336"/>
          </a:xfrm>
          <a:prstGeom prst="ellipse">
            <a:avLst/>
          </a:prstGeom>
          <a:solidFill>
            <a:schemeClr val="accent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42632" y="2624899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13" name="step-74"/>
          <p:cNvSpPr/>
          <p:nvPr/>
        </p:nvSpPr>
        <p:spPr>
          <a:xfrm>
            <a:off x="909828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tepn-75"/>
          <p:cNvSpPr txBox="1"/>
          <p:nvPr/>
        </p:nvSpPr>
        <p:spPr>
          <a:xfrm>
            <a:off x="90982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5" name="steptext-76"/>
          <p:cNvSpPr txBox="1"/>
          <p:nvPr/>
        </p:nvSpPr>
        <p:spPr>
          <a:xfrm>
            <a:off x="9646920" y="1271016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머리줄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파일 · 서브모델 · 자동 고치기 · 뽑아내기 · 내려받기 · 설정</a:t>
            </a:r>
            <a:endParaRPr lang="en-US" sz="1400" dirty="0"/>
          </a:p>
        </p:txBody>
      </p:sp>
      <p:sp>
        <p:nvSpPr>
          <p:cNvPr id="16" name="step-77"/>
          <p:cNvSpPr/>
          <p:nvPr/>
        </p:nvSpPr>
        <p:spPr>
          <a:xfrm>
            <a:off x="9098280" y="2468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tepn-78"/>
          <p:cNvSpPr txBox="1"/>
          <p:nvPr/>
        </p:nvSpPr>
        <p:spPr>
          <a:xfrm>
            <a:off x="909828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steptext-79"/>
          <p:cNvSpPr txBox="1"/>
          <p:nvPr/>
        </p:nvSpPr>
        <p:spPr>
          <a:xfrm>
            <a:off x="9646920" y="2414016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트리 (왼쪽)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AAS → 서브모델 → 요소. 고르면 가운데에 뜹니다</a:t>
            </a:r>
            <a:endParaRPr lang="en-US" sz="1400" dirty="0"/>
          </a:p>
        </p:txBody>
      </p:sp>
      <p:sp>
        <p:nvSpPr>
          <p:cNvPr id="19" name="step-80"/>
          <p:cNvSpPr/>
          <p:nvPr/>
        </p:nvSpPr>
        <p:spPr>
          <a:xfrm>
            <a:off x="9098280" y="3611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stepn-81"/>
          <p:cNvSpPr txBox="1"/>
          <p:nvPr/>
        </p:nvSpPr>
        <p:spPr>
          <a:xfrm>
            <a:off x="90982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teptext-82"/>
          <p:cNvSpPr txBox="1"/>
          <p:nvPr/>
        </p:nvSpPr>
        <p:spPr>
          <a:xfrm>
            <a:off x="9646920" y="3557016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가운데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요약 · 값 고치기 · 부품 구성</a:t>
            </a:r>
            <a:endParaRPr lang="en-US" sz="1400" dirty="0"/>
          </a:p>
        </p:txBody>
      </p:sp>
      <p:sp>
        <p:nvSpPr>
          <p:cNvPr id="22" name="step-83"/>
          <p:cNvSpPr/>
          <p:nvPr/>
        </p:nvSpPr>
        <p:spPr>
          <a:xfrm>
            <a:off x="9098280" y="4754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stepn-84"/>
          <p:cNvSpPr txBox="1"/>
          <p:nvPr/>
        </p:nvSpPr>
        <p:spPr>
          <a:xfrm>
            <a:off x="909828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steptext-85"/>
          <p:cNvSpPr txBox="1"/>
          <p:nvPr/>
        </p:nvSpPr>
        <p:spPr>
          <a:xfrm>
            <a:off x="9646920" y="4700016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수집 (오른쪽)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설비에서 값 받아 오기 — OPC UA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머리줄과 메뉴</a:t>
            </a:r>
            <a:endParaRPr lang="en-US" sz="3000" dirty="0"/>
          </a:p>
        </p:txBody>
      </p:sp>
      <p:sp>
        <p:nvSpPr>
          <p:cNvPr id="3" name="frame-86"/>
          <p:cNvSpPr/>
          <p:nvPr/>
        </p:nvSpPr>
        <p:spPr>
          <a:xfrm>
            <a:off x="512064" y="1190777"/>
            <a:ext cx="11137392" cy="681685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87" descr="shots/05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27353"/>
            <a:ext cx="11064240" cy="608533"/>
          </a:xfrm>
          <a:prstGeom prst="rect">
            <a:avLst/>
          </a:prstGeom>
        </p:spPr>
      </p:pic>
      <p:sp>
        <p:nvSpPr>
          <p:cNvPr id="5" name="frame-88"/>
          <p:cNvSpPr/>
          <p:nvPr/>
        </p:nvSpPr>
        <p:spPr>
          <a:xfrm>
            <a:off x="512064" y="2763774"/>
            <a:ext cx="3913632" cy="151333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screen-89" descr="crops/menu-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00350"/>
            <a:ext cx="3840480" cy="1440180"/>
          </a:xfrm>
          <a:prstGeom prst="rect">
            <a:avLst/>
          </a:prstGeom>
        </p:spPr>
      </p:pic>
      <p:sp>
        <p:nvSpPr>
          <p:cNvPr id="7" name="frame-90"/>
          <p:cNvSpPr/>
          <p:nvPr/>
        </p:nvSpPr>
        <p:spPr>
          <a:xfrm>
            <a:off x="4581144" y="2875668"/>
            <a:ext cx="3364992" cy="1289545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8" name="screen-91" descr="crops/menu-expo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912244"/>
            <a:ext cx="3291840" cy="1216393"/>
          </a:xfrm>
          <a:prstGeom prst="rect">
            <a:avLst/>
          </a:prstGeom>
        </p:spPr>
      </p:pic>
      <p:sp>
        <p:nvSpPr>
          <p:cNvPr id="9" name="frame-92"/>
          <p:cNvSpPr/>
          <p:nvPr/>
        </p:nvSpPr>
        <p:spPr>
          <a:xfrm>
            <a:off x="8101584" y="2670683"/>
            <a:ext cx="3547872" cy="1699514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10" name="screen-93" descr="crops/c-member-men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2707259"/>
            <a:ext cx="3474720" cy="1626362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48640" y="4846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파일 ▾ — 열기 · 새로 만들기 · 번들 열기 · 견본 열기 · 파일 목록</a:t>
            </a:r>
            <a:endParaRPr lang="en-US" sz="1300" dirty="0"/>
          </a:p>
        </p:txBody>
      </p:sp>
      <p:sp>
        <p:nvSpPr>
          <p:cNvPr id="12" name="Text 6"/>
          <p:cNvSpPr txBox="1"/>
          <p:nvPr/>
        </p:nvSpPr>
        <p:spPr>
          <a:xfrm>
            <a:off x="4617720" y="48463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뽑아내기 ▾ — 검증 결과서 · 문서용 자료 · (공정이면) 레퍼런스 번들</a:t>
            </a:r>
            <a:endParaRPr lang="en-US" sz="1300" dirty="0"/>
          </a:p>
        </p:txBody>
      </p:sp>
      <p:sp>
        <p:nvSpPr>
          <p:cNvPr id="13" name="Text 7"/>
          <p:cNvSpPr txBox="1"/>
          <p:nvPr/>
        </p:nvSpPr>
        <p:spPr>
          <a:xfrm>
            <a:off x="813816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설정 ▾ — 언어 · 내 비밀번호 · 로그아웃 · 탈퇴 · 규칙과 규약</a:t>
            </a:r>
            <a:endParaRPr lang="en-US" sz="1300" dirty="0"/>
          </a:p>
        </p:txBody>
      </p:sp>
      <p:sp>
        <p:nvSpPr>
          <p:cNvPr id="14" name="note-94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15" name="notetext-95"/>
          <p:cNvSpPr txBox="1"/>
          <p:nvPr/>
        </p:nvSpPr>
        <p:spPr>
          <a:xfrm>
            <a:off x="73152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오른쪽 위 「위반 0건 · 경고 0건」을 누르면 지적 목록이 열립니다.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no-96"/>
          <p:cNvSpPr/>
          <p:nvPr/>
        </p:nvSpPr>
        <p:spPr>
          <a:xfrm>
            <a:off x="731520" y="26974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ecnum-97"/>
          <p:cNvSpPr txBox="1"/>
          <p:nvPr/>
        </p:nvSpPr>
        <p:spPr>
          <a:xfrm>
            <a:off x="73152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3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설비 만들고 고치기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새로 만들기 · 값 고치기 · 다른 파일에서 가져오기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새로 만들기 — 설비</a:t>
            </a:r>
            <a:endParaRPr lang="en-US" sz="3000" dirty="0"/>
          </a:p>
        </p:txBody>
      </p:sp>
      <p:sp>
        <p:nvSpPr>
          <p:cNvPr id="3" name="frame-98"/>
          <p:cNvSpPr/>
          <p:nvPr/>
        </p:nvSpPr>
        <p:spPr>
          <a:xfrm>
            <a:off x="512064" y="1815441"/>
            <a:ext cx="6839712" cy="3775757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99" descr="crops/n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52017"/>
            <a:ext cx="6766560" cy="3702605"/>
          </a:xfrm>
          <a:prstGeom prst="rect">
            <a:avLst/>
          </a:prstGeom>
        </p:spPr>
      </p:pic>
      <p:sp>
        <p:nvSpPr>
          <p:cNvPr id="5" name="step-100"/>
          <p:cNvSpPr/>
          <p:nvPr/>
        </p:nvSpPr>
        <p:spPr>
          <a:xfrm>
            <a:off x="76809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101"/>
          <p:cNvSpPr txBox="1"/>
          <p:nvPr/>
        </p:nvSpPr>
        <p:spPr>
          <a:xfrm>
            <a:off x="76809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102"/>
          <p:cNvSpPr txBox="1"/>
          <p:nvPr/>
        </p:nvSpPr>
        <p:spPr>
          <a:xfrm>
            <a:off x="8229600" y="1271016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설비 이름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영문으로 시작, 영문·숫자·밑줄만. 이 이름이 id에 들어갑니다</a:t>
            </a:r>
            <a:endParaRPr lang="en-US" sz="1400" dirty="0"/>
          </a:p>
        </p:txBody>
      </p:sp>
      <p:sp>
        <p:nvSpPr>
          <p:cNvPr id="8" name="step-103"/>
          <p:cNvSpPr/>
          <p:nvPr/>
        </p:nvSpPr>
        <p:spPr>
          <a:xfrm>
            <a:off x="7680960" y="25146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104"/>
          <p:cNvSpPr txBox="1"/>
          <p:nvPr/>
        </p:nvSpPr>
        <p:spPr>
          <a:xfrm>
            <a:off x="768096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105"/>
          <p:cNvSpPr txBox="1"/>
          <p:nvPr/>
        </p:nvSpPr>
        <p:spPr>
          <a:xfrm>
            <a:off x="8229600" y="2459736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필수 서브모델 4종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명판 · 인계 문서 · 기술 사양 · 운전 데이터 — 자동으로 들어갑니다</a:t>
            </a:r>
            <a:endParaRPr lang="en-US" sz="1400" dirty="0"/>
          </a:p>
        </p:txBody>
      </p:sp>
      <p:sp>
        <p:nvSpPr>
          <p:cNvPr id="11" name="step-106"/>
          <p:cNvSpPr/>
          <p:nvPr/>
        </p:nvSpPr>
        <p:spPr>
          <a:xfrm>
            <a:off x="7680960" y="3703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107"/>
          <p:cNvSpPr txBox="1"/>
          <p:nvPr/>
        </p:nvSpPr>
        <p:spPr>
          <a:xfrm>
            <a:off x="768096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108"/>
          <p:cNvSpPr txBox="1"/>
          <p:nvPr/>
        </p:nvSpPr>
        <p:spPr>
          <a:xfrm>
            <a:off x="8229600" y="3648456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선택 서브모델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필요한 것만 체크</a:t>
            </a:r>
            <a:endParaRPr lang="en-US" sz="1400" dirty="0"/>
          </a:p>
        </p:txBody>
      </p:sp>
      <p:sp>
        <p:nvSpPr>
          <p:cNvPr id="14" name="step-109"/>
          <p:cNvSpPr/>
          <p:nvPr/>
        </p:nvSpPr>
        <p:spPr>
          <a:xfrm>
            <a:off x="7680960" y="4892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tepn-110"/>
          <p:cNvSpPr txBox="1"/>
          <p:nvPr/>
        </p:nvSpPr>
        <p:spPr>
          <a:xfrm>
            <a:off x="7680960" y="4892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text-111"/>
          <p:cNvSpPr txBox="1"/>
          <p:nvPr/>
        </p:nvSpPr>
        <p:spPr>
          <a:xfrm>
            <a:off x="8229600" y="4837176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빈 서브모델로 시작합니다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견본에서 「다른 파일에서 가져오기」로 채우면 빠릅니다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값 고치기 — 요소 하나</a:t>
            </a:r>
            <a:endParaRPr lang="en-US" sz="3000" dirty="0"/>
          </a:p>
        </p:txBody>
      </p:sp>
      <p:sp>
        <p:nvSpPr>
          <p:cNvPr id="3" name="frame-112"/>
          <p:cNvSpPr/>
          <p:nvPr/>
        </p:nvSpPr>
        <p:spPr>
          <a:xfrm>
            <a:off x="633984" y="1152144"/>
            <a:ext cx="5681472" cy="501091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13" descr="crops/el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60" y="1188720"/>
            <a:ext cx="5608320" cy="4937760"/>
          </a:xfrm>
          <a:prstGeom prst="rect">
            <a:avLst/>
          </a:prstGeom>
        </p:spPr>
      </p:pic>
      <p:sp>
        <p:nvSpPr>
          <p:cNvPr id="5" name="step-114"/>
          <p:cNvSpPr/>
          <p:nvPr/>
        </p:nvSpPr>
        <p:spPr>
          <a:xfrm>
            <a:off x="67665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115"/>
          <p:cNvSpPr txBox="1"/>
          <p:nvPr/>
        </p:nvSpPr>
        <p:spPr>
          <a:xfrm>
            <a:off x="67665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116"/>
          <p:cNvSpPr txBox="1"/>
          <p:nvPr/>
        </p:nvSpPr>
        <p:spPr>
          <a:xfrm>
            <a:off x="7315200" y="1271016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트리에서 요소를 고릅니다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예: DigitalNameplate › SerialNumber</a:t>
            </a:r>
            <a:endParaRPr lang="en-US" sz="1500" dirty="0"/>
          </a:p>
        </p:txBody>
      </p:sp>
      <p:sp>
        <p:nvSpPr>
          <p:cNvPr id="8" name="step-117"/>
          <p:cNvSpPr/>
          <p:nvPr/>
        </p:nvSpPr>
        <p:spPr>
          <a:xfrm>
            <a:off x="6766560" y="2468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118"/>
          <p:cNvSpPr txBox="1"/>
          <p:nvPr/>
        </p:nvSpPr>
        <p:spPr>
          <a:xfrm>
            <a:off x="676656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119"/>
          <p:cNvSpPr txBox="1"/>
          <p:nvPr/>
        </p:nvSpPr>
        <p:spPr>
          <a:xfrm>
            <a:off x="7315200" y="2414016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값을 고치고 「저장」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자료형에 맞지 않으면 그 자리에서 알려 줍니다</a:t>
            </a:r>
            <a:endParaRPr lang="en-US" sz="1500" dirty="0"/>
          </a:p>
        </p:txBody>
      </p:sp>
      <p:sp>
        <p:nvSpPr>
          <p:cNvPr id="11" name="step-120"/>
          <p:cNvSpPr/>
          <p:nvPr/>
        </p:nvSpPr>
        <p:spPr>
          <a:xfrm>
            <a:off x="6766560" y="3611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121"/>
          <p:cNvSpPr txBox="1"/>
          <p:nvPr/>
        </p:nvSpPr>
        <p:spPr>
          <a:xfrm>
            <a:off x="67665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122"/>
          <p:cNvSpPr txBox="1"/>
          <p:nvPr/>
        </p:nvSpPr>
        <p:spPr>
          <a:xfrm>
            <a:off x="7315200" y="3557016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이름 · semanticId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아래에서 바꿉니다. 규약에 맞는지 바로 표시됩니다</a:t>
            </a:r>
            <a:endParaRPr lang="en-US" sz="1500" dirty="0"/>
          </a:p>
        </p:txBody>
      </p:sp>
      <p:sp>
        <p:nvSpPr>
          <p:cNvPr id="14" name="step-123"/>
          <p:cNvSpPr/>
          <p:nvPr/>
        </p:nvSpPr>
        <p:spPr>
          <a:xfrm>
            <a:off x="6766560" y="4754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tepn-124"/>
          <p:cNvSpPr txBox="1"/>
          <p:nvPr/>
        </p:nvSpPr>
        <p:spPr>
          <a:xfrm>
            <a:off x="676656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text-125"/>
          <p:cNvSpPr txBox="1"/>
          <p:nvPr/>
        </p:nvSpPr>
        <p:spPr>
          <a:xfrm>
            <a:off x="7315200" y="4700016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잘못 고쳤으면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머리줄의 「되돌리기」 (Ctrl+Z)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값 한꺼번에 입력 — 서브모델 값 표</a:t>
            </a:r>
            <a:endParaRPr lang="en-US" sz="3000" dirty="0"/>
          </a:p>
        </p:txBody>
      </p:sp>
      <p:sp>
        <p:nvSpPr>
          <p:cNvPr id="3" name="frame-126"/>
          <p:cNvSpPr/>
          <p:nvPr/>
        </p:nvSpPr>
        <p:spPr>
          <a:xfrm>
            <a:off x="847344" y="1152144"/>
            <a:ext cx="5986272" cy="501091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27" descr="crops/bu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1188720"/>
            <a:ext cx="5913120" cy="4937760"/>
          </a:xfrm>
          <a:prstGeom prst="rect">
            <a:avLst/>
          </a:prstGeom>
        </p:spPr>
      </p:pic>
      <p:sp>
        <p:nvSpPr>
          <p:cNvPr id="5" name="step-128"/>
          <p:cNvSpPr/>
          <p:nvPr/>
        </p:nvSpPr>
        <p:spPr>
          <a:xfrm>
            <a:off x="749808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129"/>
          <p:cNvSpPr txBox="1"/>
          <p:nvPr/>
        </p:nvSpPr>
        <p:spPr>
          <a:xfrm>
            <a:off x="74980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130"/>
          <p:cNvSpPr txBox="1"/>
          <p:nvPr/>
        </p:nvSpPr>
        <p:spPr>
          <a:xfrm>
            <a:off x="8046720" y="127101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서브모델을 고릅니다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예: DigitalNameplate — 「값 한꺼번에 입력」 표가 뜹니다</a:t>
            </a:r>
            <a:endParaRPr lang="en-US" sz="1500" dirty="0"/>
          </a:p>
        </p:txBody>
      </p:sp>
      <p:sp>
        <p:nvSpPr>
          <p:cNvPr id="8" name="step-131"/>
          <p:cNvSpPr/>
          <p:nvPr/>
        </p:nvSpPr>
        <p:spPr>
          <a:xfrm>
            <a:off x="7498080" y="2743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132"/>
          <p:cNvSpPr txBox="1"/>
          <p:nvPr/>
        </p:nvSpPr>
        <p:spPr>
          <a:xfrm>
            <a:off x="74980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133"/>
          <p:cNvSpPr txBox="1"/>
          <p:nvPr/>
        </p:nvSpPr>
        <p:spPr>
          <a:xfrm>
            <a:off x="8046720" y="268833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줄줄이 고치고 한 번에 저장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Property · 다국어의 첫 언어 · Range(min~max)</a:t>
            </a:r>
            <a:endParaRPr lang="en-US" sz="1500" dirty="0"/>
          </a:p>
        </p:txBody>
      </p:sp>
      <p:sp>
        <p:nvSpPr>
          <p:cNvPr id="11" name="step-134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135"/>
          <p:cNvSpPr txBox="1"/>
          <p:nvPr/>
        </p:nvSpPr>
        <p:spPr>
          <a:xfrm>
            <a:off x="749808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136"/>
          <p:cNvSpPr txBox="1"/>
          <p:nvPr/>
        </p:nvSpPr>
        <p:spPr>
          <a:xfrm>
            <a:off x="8046720" y="4105656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명판처럼 칸이 많을 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요소를 하나씩 열지 않아도 됩니다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다른 파일에서 가져오기</a:t>
            </a:r>
            <a:endParaRPr lang="en-US" sz="3000" dirty="0"/>
          </a:p>
        </p:txBody>
      </p:sp>
      <p:sp>
        <p:nvSpPr>
          <p:cNvPr id="3" name="frame-137"/>
          <p:cNvSpPr/>
          <p:nvPr/>
        </p:nvSpPr>
        <p:spPr>
          <a:xfrm>
            <a:off x="512064" y="1525210"/>
            <a:ext cx="6473952" cy="40819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38" descr="crops/im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61786"/>
            <a:ext cx="6400800" cy="4008748"/>
          </a:xfrm>
          <a:prstGeom prst="rect">
            <a:avLst/>
          </a:prstGeom>
        </p:spPr>
      </p:pic>
      <p:sp>
        <p:nvSpPr>
          <p:cNvPr id="5" name="step-139"/>
          <p:cNvSpPr/>
          <p:nvPr/>
        </p:nvSpPr>
        <p:spPr>
          <a:xfrm>
            <a:off x="731520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140"/>
          <p:cNvSpPr txBox="1"/>
          <p:nvPr/>
        </p:nvSpPr>
        <p:spPr>
          <a:xfrm>
            <a:off x="7315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141"/>
          <p:cNvSpPr txBox="1"/>
          <p:nvPr/>
        </p:nvSpPr>
        <p:spPr>
          <a:xfrm>
            <a:off x="7863840" y="1271016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서브모델 ▾ → 다른 파일에서 가져오기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견본이나 다른 AASX의 서브모델을 통째로 복사합니다</a:t>
            </a:r>
            <a:endParaRPr lang="en-US" sz="1400" dirty="0"/>
          </a:p>
        </p:txBody>
      </p:sp>
      <p:sp>
        <p:nvSpPr>
          <p:cNvPr id="8" name="step-142"/>
          <p:cNvSpPr/>
          <p:nvPr/>
        </p:nvSpPr>
        <p:spPr>
          <a:xfrm>
            <a:off x="7315200" y="2743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143"/>
          <p:cNvSpPr txBox="1"/>
          <p:nvPr/>
        </p:nvSpPr>
        <p:spPr>
          <a:xfrm>
            <a:off x="731520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144"/>
          <p:cNvSpPr txBox="1"/>
          <p:nvPr/>
        </p:nvSpPr>
        <p:spPr>
          <a:xfrm>
            <a:off x="7863840" y="2688336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id는 이 설비에 맞게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쓰이는 용어(ConceptDescription)도 함께 옵니다</a:t>
            </a:r>
            <a:endParaRPr lang="en-US" sz="1400" dirty="0"/>
          </a:p>
        </p:txBody>
      </p:sp>
      <p:sp>
        <p:nvSpPr>
          <p:cNvPr id="11" name="step-145"/>
          <p:cNvSpPr/>
          <p:nvPr/>
        </p:nvSpPr>
        <p:spPr>
          <a:xfrm>
            <a:off x="731520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146"/>
          <p:cNvSpPr txBox="1"/>
          <p:nvPr/>
        </p:nvSpPr>
        <p:spPr>
          <a:xfrm>
            <a:off x="731520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147"/>
          <p:cNvSpPr txBox="1"/>
          <p:nvPr/>
        </p:nvSpPr>
        <p:spPr>
          <a:xfrm>
            <a:off x="7863840" y="4105656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같은 이름이 있으면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바꾸기(옛것 지움) 또는 나란히 두기(이름_2)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no-148"/>
          <p:cNvSpPr/>
          <p:nvPr/>
        </p:nvSpPr>
        <p:spPr>
          <a:xfrm>
            <a:off x="731520" y="26974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ecnum-149"/>
          <p:cNvSpPr txBox="1"/>
          <p:nvPr/>
        </p:nvSpPr>
        <p:spPr>
          <a:xfrm>
            <a:off x="73152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검사 · 자동 고치기 · 내보내기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지적 목록 · 미리 보고 고치기 · 결과서 · 내려받기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지적 목록 — 무엇이 어긋났나</a:t>
            </a:r>
            <a:endParaRPr lang="en-US" sz="3000" dirty="0"/>
          </a:p>
        </p:txBody>
      </p:sp>
      <p:sp>
        <p:nvSpPr>
          <p:cNvPr id="3" name="frame-150"/>
          <p:cNvSpPr/>
          <p:nvPr/>
        </p:nvSpPr>
        <p:spPr>
          <a:xfrm>
            <a:off x="512064" y="1235148"/>
            <a:ext cx="6108192" cy="4844905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51" descr="crops/find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71724"/>
            <a:ext cx="6035040" cy="4771753"/>
          </a:xfrm>
          <a:prstGeom prst="rect">
            <a:avLst/>
          </a:prstGeom>
        </p:spPr>
      </p:pic>
      <p:graphicFrame>
        <p:nvGraphicFramePr>
          <p:cNvPr id="19" name="table-1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325880"/>
          <a:ext cx="47548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KOSMO 규칙에 어긋남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 전에 반드시 고칩니다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제출은 되지만 표준·상호운용이 깨짐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확인하고 「자동 고치기」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것 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읽고 넘어갑니다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note-153"/>
          <p:cNvSpPr/>
          <p:nvPr/>
        </p:nvSpPr>
        <p:spPr>
          <a:xfrm>
            <a:off x="6949440" y="3931920"/>
            <a:ext cx="4754880" cy="640080"/>
          </a:xfrm>
          <a:prstGeom prst="roundRect">
            <a:avLst>
              <a:gd name="adj" fmla="val 11429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7" name="notetext-154"/>
          <p:cNvSpPr txBox="1"/>
          <p:nvPr/>
        </p:nvSpPr>
        <p:spPr>
          <a:xfrm>
            <a:off x="7132320" y="3931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머리줄의 「위반 n건 · 경고 n건」 칩을 누르면 열립니다.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자동 고치기 — 미리 보고 골라서</a:t>
            </a:r>
            <a:endParaRPr lang="en-US" sz="3000" dirty="0"/>
          </a:p>
        </p:txBody>
      </p:sp>
      <p:sp>
        <p:nvSpPr>
          <p:cNvPr id="3" name="frame-155"/>
          <p:cNvSpPr/>
          <p:nvPr/>
        </p:nvSpPr>
        <p:spPr>
          <a:xfrm>
            <a:off x="512064" y="1503129"/>
            <a:ext cx="7754112" cy="3394543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56" descr="crops/fixpr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39705"/>
            <a:ext cx="7680960" cy="3321391"/>
          </a:xfrm>
          <a:prstGeom prst="rect">
            <a:avLst/>
          </a:prstGeom>
        </p:spPr>
      </p:pic>
      <p:sp>
        <p:nvSpPr>
          <p:cNvPr id="5" name="step-157"/>
          <p:cNvSpPr/>
          <p:nvPr/>
        </p:nvSpPr>
        <p:spPr>
          <a:xfrm>
            <a:off x="854964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158"/>
          <p:cNvSpPr txBox="1"/>
          <p:nvPr/>
        </p:nvSpPr>
        <p:spPr>
          <a:xfrm>
            <a:off x="85496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159"/>
          <p:cNvSpPr txBox="1"/>
          <p:nvPr/>
        </p:nvSpPr>
        <p:spPr>
          <a:xfrm>
            <a:off x="9098280" y="1271016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「자동 고치기 n건」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고칠 수 있는 것만 셉니다</a:t>
            </a:r>
            <a:endParaRPr lang="en-US" sz="1400" dirty="0"/>
          </a:p>
        </p:txBody>
      </p:sp>
      <p:sp>
        <p:nvSpPr>
          <p:cNvPr id="8" name="step-160"/>
          <p:cNvSpPr/>
          <p:nvPr/>
        </p:nvSpPr>
        <p:spPr>
          <a:xfrm>
            <a:off x="8549640" y="26517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161"/>
          <p:cNvSpPr txBox="1"/>
          <p:nvPr/>
        </p:nvSpPr>
        <p:spPr>
          <a:xfrm>
            <a:off x="8549640" y="2651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162"/>
          <p:cNvSpPr txBox="1"/>
          <p:nvPr/>
        </p:nvSpPr>
        <p:spPr>
          <a:xfrm>
            <a:off x="9098280" y="2596896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전 / 후를 확인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체크를 빼면 그 항목은 건너뜁니다</a:t>
            </a:r>
            <a:endParaRPr lang="en-US" sz="1400" dirty="0"/>
          </a:p>
        </p:txBody>
      </p:sp>
      <p:sp>
        <p:nvSpPr>
          <p:cNvPr id="11" name="step-163"/>
          <p:cNvSpPr/>
          <p:nvPr/>
        </p:nvSpPr>
        <p:spPr>
          <a:xfrm>
            <a:off x="8549640" y="39776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164"/>
          <p:cNvSpPr txBox="1"/>
          <p:nvPr/>
        </p:nvSpPr>
        <p:spPr>
          <a:xfrm>
            <a:off x="85496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165"/>
          <p:cNvSpPr txBox="1"/>
          <p:nvPr/>
        </p:nvSpPr>
        <p:spPr>
          <a:xfrm>
            <a:off x="9098280" y="3922776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고치기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「되돌리기」로 되돌릴 수 있습니다</a:t>
            </a:r>
            <a:endParaRPr lang="en-US" sz="1400" dirty="0"/>
          </a:p>
        </p:txBody>
      </p:sp>
      <p:sp>
        <p:nvSpPr>
          <p:cNvPr id="14" name="note-166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EEF3FB"/>
          </a:solidFill>
          <a:ln w="12700">
            <a:solidFill>
              <a:srgbClr val="EEF3FB"/>
            </a:solidFill>
            <a:prstDash val="solid"/>
          </a:ln>
        </p:spPr>
      </p:sp>
      <p:sp>
        <p:nvSpPr>
          <p:cNvPr id="15" name="notetext-167"/>
          <p:cNvSpPr txBox="1"/>
          <p:nvPr/>
        </p:nvSpPr>
        <p:spPr>
          <a:xfrm>
            <a:off x="731520" y="5440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사람이 판단할 몫(영문 정의를 지어내는 일 등)은 자동으로 고치지 않습니다.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검증 결과서 · 문서용 자료</a:t>
            </a:r>
            <a:endParaRPr lang="en-US" sz="3000" dirty="0"/>
          </a:p>
        </p:txBody>
      </p:sp>
      <p:sp>
        <p:nvSpPr>
          <p:cNvPr id="3" name="frame-168"/>
          <p:cNvSpPr/>
          <p:nvPr/>
        </p:nvSpPr>
        <p:spPr>
          <a:xfrm>
            <a:off x="512064" y="1335024"/>
            <a:ext cx="5193792" cy="391363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69" descr="shots/13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120640" cy="3840480"/>
          </a:xfrm>
          <a:prstGeom prst="rect">
            <a:avLst/>
          </a:prstGeom>
        </p:spPr>
      </p:pic>
      <p:sp>
        <p:nvSpPr>
          <p:cNvPr id="5" name="frame-170"/>
          <p:cNvSpPr/>
          <p:nvPr/>
        </p:nvSpPr>
        <p:spPr>
          <a:xfrm>
            <a:off x="5998464" y="1686497"/>
            <a:ext cx="5650992" cy="3210687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screen-171" descr="shots/14-doc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23073"/>
            <a:ext cx="5577840" cy="3137535"/>
          </a:xfrm>
          <a:prstGeom prst="rect">
            <a:avLst/>
          </a:prstGeom>
        </p:spPr>
      </p:pic>
      <p:sp>
        <p:nvSpPr>
          <p:cNvPr id="7" name="cap-172"/>
          <p:cNvSpPr txBox="1"/>
          <p:nvPr/>
        </p:nvSpPr>
        <p:spPr>
          <a:xfrm>
            <a:off x="548640" y="5532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뽑아내기 ▾ → 검증 결과서 — 인쇄하면 PDF</a:t>
            </a:r>
            <a:endParaRPr lang="en-US" sz="1200" dirty="0"/>
          </a:p>
        </p:txBody>
      </p:sp>
      <p:sp>
        <p:nvSpPr>
          <p:cNvPr id="8" name="cap-173"/>
          <p:cNvSpPr txBox="1"/>
          <p:nvPr/>
        </p:nvSpPr>
        <p:spPr>
          <a:xfrm>
            <a:off x="6035040" y="55321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뽑아내기 ▾ → 문서용 자료 — UML 그림 · 표 · .docx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AASX 내려받기</a:t>
            </a:r>
            <a:endParaRPr lang="en-US" sz="3000" dirty="0"/>
          </a:p>
        </p:txBody>
      </p:sp>
      <p:sp>
        <p:nvSpPr>
          <p:cNvPr id="3" name="frame-174"/>
          <p:cNvSpPr/>
          <p:nvPr/>
        </p:nvSpPr>
        <p:spPr>
          <a:xfrm>
            <a:off x="512064" y="1270508"/>
            <a:ext cx="5193792" cy="613664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75" descr="crops/c-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07084"/>
            <a:ext cx="5120640" cy="540512"/>
          </a:xfrm>
          <a:prstGeom prst="rect">
            <a:avLst/>
          </a:prstGeom>
        </p:spPr>
      </p:pic>
      <p:sp>
        <p:nvSpPr>
          <p:cNvPr id="5" name="cap-176"/>
          <p:cNvSpPr txBox="1"/>
          <p:nvPr/>
        </p:nvSpPr>
        <p:spPr>
          <a:xfrm>
            <a:off x="548640" y="20574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체험 계정에서는 🔒 — 누르면 회원가입 화면으로 갑니다</a:t>
            </a:r>
            <a:endParaRPr lang="en-US" sz="1200" dirty="0"/>
          </a:p>
        </p:txBody>
      </p:sp>
      <p:graphicFrame>
        <p:nvGraphicFramePr>
          <p:cNvPr id="22" name="table-1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06040"/>
          <a:ext cx="51206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전 확인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 — 자동 고치기로 정리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명판 값(제조사·모델·일련번호)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값 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사진이 실제 사진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AssetInformation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step-178"/>
          <p:cNvSpPr/>
          <p:nvPr/>
        </p:nvSpPr>
        <p:spPr>
          <a:xfrm>
            <a:off x="621792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tepn-179"/>
          <p:cNvSpPr txBox="1"/>
          <p:nvPr/>
        </p:nvSpPr>
        <p:spPr>
          <a:xfrm>
            <a:off x="6217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steptext-180"/>
          <p:cNvSpPr txBox="1"/>
          <p:nvPr/>
        </p:nvSpPr>
        <p:spPr>
          <a:xfrm>
            <a:off x="6766560" y="1271016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「AASX 내려받기」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머리줄 오른쪽 파란 단추 — 회원만</a:t>
            </a:r>
            <a:endParaRPr lang="en-US" sz="1500" dirty="0"/>
          </a:p>
        </p:txBody>
      </p:sp>
      <p:sp>
        <p:nvSpPr>
          <p:cNvPr id="10" name="step-181"/>
          <p:cNvSpPr/>
          <p:nvPr/>
        </p:nvSpPr>
        <p:spPr>
          <a:xfrm>
            <a:off x="6217920" y="2697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n-182"/>
          <p:cNvSpPr txBox="1"/>
          <p:nvPr/>
        </p:nvSpPr>
        <p:spPr>
          <a:xfrm>
            <a:off x="6217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steptext-183"/>
          <p:cNvSpPr txBox="1"/>
          <p:nvPr/>
        </p:nvSpPr>
        <p:spPr>
          <a:xfrm>
            <a:off x="6766560" y="2642616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위반이 남아 있으면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한 번 더 묻습니다 — 작업 중 저장이면 받아도 됩니다</a:t>
            </a:r>
            <a:endParaRPr lang="en-US" sz="1500" dirty="0"/>
          </a:p>
        </p:txBody>
      </p:sp>
      <p:sp>
        <p:nvSpPr>
          <p:cNvPr id="13" name="step-184"/>
          <p:cNvSpPr/>
          <p:nvPr/>
        </p:nvSpPr>
        <p:spPr>
          <a:xfrm>
            <a:off x="621792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tepn-185"/>
          <p:cNvSpPr txBox="1"/>
          <p:nvPr/>
        </p:nvSpPr>
        <p:spPr>
          <a:xfrm>
            <a:off x="62179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steptext-186"/>
          <p:cNvSpPr txBox="1"/>
          <p:nvPr/>
        </p:nvSpPr>
        <p:spPr>
          <a:xfrm>
            <a:off x="6766560" y="4014216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파일 이름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목록에 보이는 이름 그대로 받습니다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no-187"/>
          <p:cNvSpPr/>
          <p:nvPr/>
        </p:nvSpPr>
        <p:spPr>
          <a:xfrm>
            <a:off x="731520" y="26974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ecnum-188"/>
          <p:cNvSpPr txBox="1"/>
          <p:nvPr/>
        </p:nvSpPr>
        <p:spPr>
          <a:xfrm>
            <a:off x="73152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5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공정 묶음 · 레퍼런스 번들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설비 여러 대를 공정으로 · 제출 꾸러미로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공정 구성 — 회사 → 공정 → 설비</a:t>
            </a:r>
            <a:endParaRPr lang="en-US" sz="3000" dirty="0"/>
          </a:p>
        </p:txBody>
      </p:sp>
      <p:sp>
        <p:nvSpPr>
          <p:cNvPr id="3" name="frame-189"/>
          <p:cNvSpPr/>
          <p:nvPr/>
        </p:nvSpPr>
        <p:spPr>
          <a:xfrm>
            <a:off x="512064" y="1409319"/>
            <a:ext cx="7936992" cy="449656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190" descr="shots/15-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895"/>
            <a:ext cx="7863840" cy="4423410"/>
          </a:xfrm>
          <a:prstGeom prst="rect">
            <a:avLst/>
          </a:prstGeom>
        </p:spPr>
      </p:pic>
      <p:sp>
        <p:nvSpPr>
          <p:cNvPr id="5" name="step-191"/>
          <p:cNvSpPr/>
          <p:nvPr/>
        </p:nvSpPr>
        <p:spPr>
          <a:xfrm>
            <a:off x="873252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192"/>
          <p:cNvSpPr txBox="1"/>
          <p:nvPr/>
        </p:nvSpPr>
        <p:spPr>
          <a:xfrm>
            <a:off x="87325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193"/>
          <p:cNvSpPr txBox="1"/>
          <p:nvPr/>
        </p:nvSpPr>
        <p:spPr>
          <a:xfrm>
            <a:off x="9281160" y="127101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새로 만들기 → 그룹(회사/공정)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설비 상세는 담지 않고 주소로 가리킵니다</a:t>
            </a:r>
            <a:endParaRPr lang="en-US" sz="1400" dirty="0"/>
          </a:p>
        </p:txBody>
      </p:sp>
      <p:sp>
        <p:nvSpPr>
          <p:cNvPr id="8" name="step-194"/>
          <p:cNvSpPr/>
          <p:nvPr/>
        </p:nvSpPr>
        <p:spPr>
          <a:xfrm>
            <a:off x="8732520" y="2788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195"/>
          <p:cNvSpPr txBox="1"/>
          <p:nvPr/>
        </p:nvSpPr>
        <p:spPr>
          <a:xfrm>
            <a:off x="87325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196"/>
          <p:cNvSpPr txBox="1"/>
          <p:nvPr/>
        </p:nvSpPr>
        <p:spPr>
          <a:xfrm>
            <a:off x="9281160" y="273405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「＋ 공정」 「＋ 설비」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올려 둔 설비 파일에서 고르거나 PC에서 가져옵니다</a:t>
            </a:r>
            <a:endParaRPr lang="en-US" sz="1400" dirty="0"/>
          </a:p>
        </p:txBody>
      </p:sp>
      <p:sp>
        <p:nvSpPr>
          <p:cNvPr id="11" name="step-197"/>
          <p:cNvSpPr/>
          <p:nvPr/>
        </p:nvSpPr>
        <p:spPr>
          <a:xfrm>
            <a:off x="873252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198"/>
          <p:cNvSpPr txBox="1"/>
          <p:nvPr/>
        </p:nvSpPr>
        <p:spPr>
          <a:xfrm>
            <a:off x="873252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199"/>
          <p:cNvSpPr txBox="1"/>
          <p:nvPr/>
        </p:nvSpPr>
        <p:spPr>
          <a:xfrm>
            <a:off x="9281160" y="419709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같은 기종 여러 대는 ×N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파일을 복사하지 않습니다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레퍼런스 번들 — 제출 꾸러미(ZIP)</a:t>
            </a:r>
            <a:endParaRPr lang="en-US" sz="3000" dirty="0"/>
          </a:p>
        </p:txBody>
      </p:sp>
      <p:sp>
        <p:nvSpPr>
          <p:cNvPr id="3" name="frame-200"/>
          <p:cNvSpPr/>
          <p:nvPr/>
        </p:nvSpPr>
        <p:spPr>
          <a:xfrm>
            <a:off x="512064" y="1409319"/>
            <a:ext cx="7936992" cy="449656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201" descr="shots/16-bund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45895"/>
            <a:ext cx="7863840" cy="4423410"/>
          </a:xfrm>
          <a:prstGeom prst="rect">
            <a:avLst/>
          </a:prstGeom>
        </p:spPr>
      </p:pic>
      <p:sp>
        <p:nvSpPr>
          <p:cNvPr id="5" name="step-202"/>
          <p:cNvSpPr/>
          <p:nvPr/>
        </p:nvSpPr>
        <p:spPr>
          <a:xfrm>
            <a:off x="873252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203"/>
          <p:cNvSpPr txBox="1"/>
          <p:nvPr/>
        </p:nvSpPr>
        <p:spPr>
          <a:xfrm>
            <a:off x="87325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204"/>
          <p:cNvSpPr txBox="1"/>
          <p:nvPr/>
        </p:nvSpPr>
        <p:spPr>
          <a:xfrm>
            <a:off x="9281160" y="127101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공정 파일에서 뽑아내기 ▾ → 레퍼런스 번들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구성 · 준비 상태 · 데이터 연계를 한 화면에</a:t>
            </a:r>
            <a:endParaRPr lang="en-US" sz="1400" dirty="0"/>
          </a:p>
        </p:txBody>
      </p:sp>
      <p:sp>
        <p:nvSpPr>
          <p:cNvPr id="8" name="step-205"/>
          <p:cNvSpPr/>
          <p:nvPr/>
        </p:nvSpPr>
        <p:spPr>
          <a:xfrm>
            <a:off x="8732520" y="2788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206"/>
          <p:cNvSpPr txBox="1"/>
          <p:nvPr/>
        </p:nvSpPr>
        <p:spPr>
          <a:xfrm>
            <a:off x="873252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207"/>
          <p:cNvSpPr txBox="1"/>
          <p:nvPr/>
        </p:nvSpPr>
        <p:spPr>
          <a:xfrm>
            <a:off x="9281160" y="273405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번들 내려받기(ZIP)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공정 · 설비 · 사전 점검 결과가 함께 — 회원만</a:t>
            </a:r>
            <a:endParaRPr lang="en-US" sz="1400" dirty="0"/>
          </a:p>
        </p:txBody>
      </p:sp>
      <p:sp>
        <p:nvSpPr>
          <p:cNvPr id="11" name="step-208"/>
          <p:cNvSpPr/>
          <p:nvPr/>
        </p:nvSpPr>
        <p:spPr>
          <a:xfrm>
            <a:off x="873252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209"/>
          <p:cNvSpPr txBox="1"/>
          <p:nvPr/>
        </p:nvSpPr>
        <p:spPr>
          <a:xfrm>
            <a:off x="873252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210"/>
          <p:cNvSpPr txBox="1"/>
          <p:nvPr/>
        </p:nvSpPr>
        <p:spPr>
          <a:xfrm>
            <a:off x="9281160" y="4197096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받은 쪽은 「번들 열기」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바뀐 파일이 없는지 해시로 확인합니다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no-211"/>
          <p:cNvSpPr/>
          <p:nvPr/>
        </p:nvSpPr>
        <p:spPr>
          <a:xfrm>
            <a:off x="731520" y="26974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ecnum-212"/>
          <p:cNvSpPr txBox="1"/>
          <p:nvPr/>
        </p:nvSpPr>
        <p:spPr>
          <a:xfrm>
            <a:off x="73152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6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현장 값 수집 · 내주기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가상 PLC로 시험 · OPC UA로 상위 앱에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설비에서 값 받아 오기 — 가상 PLC로 시험</a:t>
            </a:r>
            <a:endParaRPr lang="en-US" sz="3000" dirty="0"/>
          </a:p>
        </p:txBody>
      </p:sp>
      <p:sp>
        <p:nvSpPr>
          <p:cNvPr id="3" name="frame-213"/>
          <p:cNvSpPr/>
          <p:nvPr/>
        </p:nvSpPr>
        <p:spPr>
          <a:xfrm>
            <a:off x="1091615" y="1152144"/>
            <a:ext cx="2937409" cy="5102352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214" descr="crops/coll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8191" y="1188720"/>
            <a:ext cx="2864257" cy="5029200"/>
          </a:xfrm>
          <a:prstGeom prst="rect">
            <a:avLst/>
          </a:prstGeom>
        </p:spPr>
      </p:pic>
      <p:sp>
        <p:nvSpPr>
          <p:cNvPr id="5" name="step-215"/>
          <p:cNvSpPr/>
          <p:nvPr/>
        </p:nvSpPr>
        <p:spPr>
          <a:xfrm>
            <a:off x="502920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216"/>
          <p:cNvSpPr txBox="1"/>
          <p:nvPr/>
        </p:nvSpPr>
        <p:spPr>
          <a:xfrm>
            <a:off x="502920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217"/>
          <p:cNvSpPr txBox="1"/>
          <p:nvPr/>
        </p:nvSpPr>
        <p:spPr>
          <a:xfrm>
            <a:off x="5577840" y="127101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실물 PLC가 없으면 「가상 PLC로 연결」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이 파일의 운전 데이터 이름대로 태그를 내는 시뮬레이터가 뜹니다</a:t>
            </a:r>
            <a:endParaRPr lang="en-US" sz="1500" dirty="0"/>
          </a:p>
        </p:txBody>
      </p:sp>
      <p:sp>
        <p:nvSpPr>
          <p:cNvPr id="8" name="step-218"/>
          <p:cNvSpPr/>
          <p:nvPr/>
        </p:nvSpPr>
        <p:spPr>
          <a:xfrm>
            <a:off x="5029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219"/>
          <p:cNvSpPr txBox="1"/>
          <p:nvPr/>
        </p:nvSpPr>
        <p:spPr>
          <a:xfrm>
            <a:off x="5029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220"/>
          <p:cNvSpPr txBox="1"/>
          <p:nvPr/>
        </p:nvSpPr>
        <p:spPr>
          <a:xfrm>
            <a:off x="5577840" y="236829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실물이면 「수집 연결 만들기」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설비의 OPC UA 주소를 넣고 태그를 고릅니다</a:t>
            </a:r>
            <a:endParaRPr lang="en-US" sz="1500" dirty="0"/>
          </a:p>
        </p:txBody>
      </p:sp>
      <p:sp>
        <p:nvSpPr>
          <p:cNvPr id="11" name="step-221"/>
          <p:cNvSpPr/>
          <p:nvPr/>
        </p:nvSpPr>
        <p:spPr>
          <a:xfrm>
            <a:off x="5029200" y="35204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222"/>
          <p:cNvSpPr txBox="1"/>
          <p:nvPr/>
        </p:nvSpPr>
        <p:spPr>
          <a:xfrm>
            <a:off x="50292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223"/>
          <p:cNvSpPr txBox="1"/>
          <p:nvPr/>
        </p:nvSpPr>
        <p:spPr>
          <a:xfrm>
            <a:off x="5577840" y="346557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「수집」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최근 값과 시각이 표로 쌓입니다</a:t>
            </a:r>
            <a:endParaRPr lang="en-US" sz="1500" dirty="0"/>
          </a:p>
        </p:txBody>
      </p:sp>
      <p:sp>
        <p:nvSpPr>
          <p:cNvPr id="14" name="step-224"/>
          <p:cNvSpPr/>
          <p:nvPr/>
        </p:nvSpPr>
        <p:spPr>
          <a:xfrm>
            <a:off x="502920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tepn-225"/>
          <p:cNvSpPr txBox="1"/>
          <p:nvPr/>
        </p:nvSpPr>
        <p:spPr>
          <a:xfrm>
            <a:off x="502920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text-226"/>
          <p:cNvSpPr txBox="1"/>
          <p:nvPr/>
        </p:nvSpPr>
        <p:spPr>
          <a:xfrm>
            <a:off x="5577840" y="456285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「주소목록」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시운전·검수에 넘길 수집 주소 표(CSV)</a:t>
            </a:r>
            <a:endParaRPr lang="en-US" sz="1500" dirty="0"/>
          </a:p>
        </p:txBody>
      </p:sp>
      <p:sp>
        <p:nvSpPr>
          <p:cNvPr id="17" name="note-227"/>
          <p:cNvSpPr/>
          <p:nvPr/>
        </p:nvSpPr>
        <p:spPr>
          <a:xfrm>
            <a:off x="5029200" y="5532120"/>
            <a:ext cx="6675120" cy="640080"/>
          </a:xfrm>
          <a:prstGeom prst="roundRect">
            <a:avLst>
              <a:gd name="adj" fmla="val 11429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8" name="notetext-228"/>
          <p:cNvSpPr txBox="1"/>
          <p:nvPr/>
        </p:nvSpPr>
        <p:spPr>
          <a:xfrm>
            <a:off x="5212080" y="55321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연결하면 그 파일에 수집 연결(AID)이 더해져 「시연본」이 됩니다. 제출할 파일은 그대로 두십시오.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다른 시스템에 값 내주기 — OPC UA</a:t>
            </a:r>
            <a:endParaRPr lang="en-US" sz="3000" dirty="0"/>
          </a:p>
        </p:txBody>
      </p:sp>
      <p:sp>
        <p:nvSpPr>
          <p:cNvPr id="3" name="frame-229"/>
          <p:cNvSpPr/>
          <p:nvPr/>
        </p:nvSpPr>
        <p:spPr>
          <a:xfrm>
            <a:off x="512064" y="1190141"/>
            <a:ext cx="6108192" cy="3654758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230" descr="crops/serv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26717"/>
            <a:ext cx="6035040" cy="3581606"/>
          </a:xfrm>
          <a:prstGeom prst="rect">
            <a:avLst/>
          </a:prstGeom>
        </p:spPr>
      </p:pic>
      <p:sp>
        <p:nvSpPr>
          <p:cNvPr id="5" name="step-231"/>
          <p:cNvSpPr/>
          <p:nvPr/>
        </p:nvSpPr>
        <p:spPr>
          <a:xfrm>
            <a:off x="694944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232"/>
          <p:cNvSpPr txBox="1"/>
          <p:nvPr/>
        </p:nvSpPr>
        <p:spPr>
          <a:xfrm>
            <a:off x="694944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233"/>
          <p:cNvSpPr txBox="1"/>
          <p:nvPr/>
        </p:nvSpPr>
        <p:spPr>
          <a:xfrm>
            <a:off x="7498080" y="1271016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관리자가 켜 둔 서버에서만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켜져 있으면 머리줄에 「→ 내주는 중」이 보입니다</a:t>
            </a:r>
            <a:endParaRPr lang="en-US" sz="1500" dirty="0"/>
          </a:p>
        </p:txBody>
      </p:sp>
      <p:sp>
        <p:nvSpPr>
          <p:cNvPr id="8" name="step-234"/>
          <p:cNvSpPr/>
          <p:nvPr/>
        </p:nvSpPr>
        <p:spPr>
          <a:xfrm>
            <a:off x="6949440" y="2606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235"/>
          <p:cNvSpPr txBox="1"/>
          <p:nvPr/>
        </p:nvSpPr>
        <p:spPr>
          <a:xfrm>
            <a:off x="69494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236"/>
          <p:cNvSpPr txBox="1"/>
          <p:nvPr/>
        </p:nvSpPr>
        <p:spPr>
          <a:xfrm>
            <a:off x="7498080" y="2551176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상위 앱(MES·SCADA)에 알려 줄 주소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이 창의 주소를 알려 주면 구독으로 값을 받아 갑니다</a:t>
            </a:r>
            <a:endParaRPr lang="en-US" sz="1500" dirty="0"/>
          </a:p>
        </p:txBody>
      </p:sp>
      <p:sp>
        <p:nvSpPr>
          <p:cNvPr id="11" name="step-237"/>
          <p:cNvSpPr/>
          <p:nvPr/>
        </p:nvSpPr>
        <p:spPr>
          <a:xfrm>
            <a:off x="6949440" y="3886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238"/>
          <p:cNvSpPr txBox="1"/>
          <p:nvPr/>
        </p:nvSpPr>
        <p:spPr>
          <a:xfrm>
            <a:off x="694944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239"/>
          <p:cNvSpPr txBox="1"/>
          <p:nvPr/>
        </p:nvSpPr>
        <p:spPr>
          <a:xfrm>
            <a:off x="7498080" y="3831336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전부 읽기 전용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밖에서 값을 바꿀 수 없습니다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no-240"/>
          <p:cNvSpPr/>
          <p:nvPr/>
        </p:nvSpPr>
        <p:spPr>
          <a:xfrm>
            <a:off x="731520" y="2697480"/>
            <a:ext cx="1097280" cy="10972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ecnum-241"/>
          <p:cNvSpPr txBox="1"/>
          <p:nvPr/>
        </p:nvSpPr>
        <p:spPr>
          <a:xfrm>
            <a:off x="731520" y="26974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7</a:t>
            </a:r>
            <a:endParaRPr lang="en-US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2194560" y="2651760"/>
            <a:ext cx="9235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내 계정과 설정</a:t>
            </a:r>
            <a:endParaRPr lang="en-US" sz="38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2194560" y="3611880"/>
            <a:ext cx="9235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비밀번호 · 언어 · 탈퇴 · 파일 목록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내 비밀번호 바꾸기</a:t>
            </a:r>
            <a:endParaRPr lang="en-US" sz="3000" dirty="0"/>
          </a:p>
        </p:txBody>
      </p:sp>
      <p:sp>
        <p:nvSpPr>
          <p:cNvPr id="3" name="frame-242"/>
          <p:cNvSpPr/>
          <p:nvPr/>
        </p:nvSpPr>
        <p:spPr>
          <a:xfrm>
            <a:off x="512064" y="1476262"/>
            <a:ext cx="5925312" cy="4362675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243" descr="crops/c-passwo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2838"/>
            <a:ext cx="5852160" cy="4289523"/>
          </a:xfrm>
          <a:prstGeom prst="rect">
            <a:avLst/>
          </a:prstGeom>
        </p:spPr>
      </p:pic>
      <p:sp>
        <p:nvSpPr>
          <p:cNvPr id="5" name="step-244"/>
          <p:cNvSpPr/>
          <p:nvPr/>
        </p:nvSpPr>
        <p:spPr>
          <a:xfrm>
            <a:off x="676656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245"/>
          <p:cNvSpPr txBox="1"/>
          <p:nvPr/>
        </p:nvSpPr>
        <p:spPr>
          <a:xfrm>
            <a:off x="676656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246"/>
          <p:cNvSpPr txBox="1"/>
          <p:nvPr/>
        </p:nvSpPr>
        <p:spPr>
          <a:xfrm>
            <a:off x="7315200" y="1271016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설정 ▾ → 내 비밀번호 바꾸기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지금 비밀번호와 새 비밀번호(10자 이상)를 넣습니다</a:t>
            </a:r>
            <a:endParaRPr lang="en-US" sz="1500" dirty="0"/>
          </a:p>
        </p:txBody>
      </p:sp>
      <p:sp>
        <p:nvSpPr>
          <p:cNvPr id="8" name="step-247"/>
          <p:cNvSpPr/>
          <p:nvPr/>
        </p:nvSpPr>
        <p:spPr>
          <a:xfrm>
            <a:off x="6766560" y="2697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248"/>
          <p:cNvSpPr txBox="1"/>
          <p:nvPr/>
        </p:nvSpPr>
        <p:spPr>
          <a:xfrm>
            <a:off x="676656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249"/>
          <p:cNvSpPr txBox="1"/>
          <p:nvPr/>
        </p:nvSpPr>
        <p:spPr>
          <a:xfrm>
            <a:off x="7315200" y="2642616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바꾸면 다른 곳의 로그인이 끊깁니다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공용 PC에 남은 로그인도 함께 풀립니다</a:t>
            </a:r>
            <a:endParaRPr lang="en-US" sz="1500" dirty="0"/>
          </a:p>
        </p:txBody>
      </p:sp>
      <p:sp>
        <p:nvSpPr>
          <p:cNvPr id="11" name="step-250"/>
          <p:cNvSpPr/>
          <p:nvPr/>
        </p:nvSpPr>
        <p:spPr>
          <a:xfrm>
            <a:off x="676656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251"/>
          <p:cNvSpPr txBox="1"/>
          <p:nvPr/>
        </p:nvSpPr>
        <p:spPr>
          <a:xfrm>
            <a:off x="676656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252"/>
          <p:cNvSpPr txBox="1"/>
          <p:nvPr/>
        </p:nvSpPr>
        <p:spPr>
          <a:xfrm>
            <a:off x="7315200" y="4014216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비밀번호를 잊었으면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관리자에게 「비밀번호 초기화」를 부탁하십시오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언어 · 탈퇴</a:t>
            </a:r>
            <a:endParaRPr lang="en-US" sz="3000" dirty="0"/>
          </a:p>
        </p:txBody>
      </p:sp>
      <p:sp>
        <p:nvSpPr>
          <p:cNvPr id="3" name="frame-253"/>
          <p:cNvSpPr/>
          <p:nvPr/>
        </p:nvSpPr>
        <p:spPr>
          <a:xfrm>
            <a:off x="512064" y="1164176"/>
            <a:ext cx="5559552" cy="2609409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254" descr="crops/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00752"/>
            <a:ext cx="5486400" cy="2536257"/>
          </a:xfrm>
          <a:prstGeom prst="rect">
            <a:avLst/>
          </a:prstGeom>
        </p:spPr>
      </p:pic>
      <p:sp>
        <p:nvSpPr>
          <p:cNvPr id="5" name="frame-255"/>
          <p:cNvSpPr/>
          <p:nvPr/>
        </p:nvSpPr>
        <p:spPr>
          <a:xfrm>
            <a:off x="6364224" y="1172147"/>
            <a:ext cx="5285232" cy="3004947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6" name="screen-256" descr="shots/26-engli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08723"/>
            <a:ext cx="5212080" cy="2931795"/>
          </a:xfrm>
          <a:prstGeom prst="rect">
            <a:avLst/>
          </a:prstGeom>
        </p:spPr>
      </p:pic>
      <p:sp>
        <p:nvSpPr>
          <p:cNvPr id="7" name="step-257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stepn-258"/>
          <p:cNvSpPr txBox="1"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steptext-259"/>
          <p:cNvSpPr txBox="1"/>
          <p:nvPr/>
        </p:nvSpPr>
        <p:spPr>
          <a:xfrm>
            <a:off x="1097280" y="4014216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설정 ▾ → 언어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한국어 / English — 이 브라우저에만 남습니다</a:t>
            </a:r>
            <a:endParaRPr lang="en-US" sz="1500" dirty="0"/>
          </a:p>
        </p:txBody>
      </p:sp>
      <p:sp>
        <p:nvSpPr>
          <p:cNvPr id="10" name="step-260"/>
          <p:cNvSpPr/>
          <p:nvPr/>
        </p:nvSpPr>
        <p:spPr>
          <a:xfrm>
            <a:off x="548640" y="4983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tepn-261"/>
          <p:cNvSpPr txBox="1"/>
          <p:nvPr/>
        </p:nvSpPr>
        <p:spPr>
          <a:xfrm>
            <a:off x="54864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steptext-262"/>
          <p:cNvSpPr txBox="1"/>
          <p:nvPr/>
        </p:nvSpPr>
        <p:spPr>
          <a:xfrm>
            <a:off x="1097280" y="4928616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설정 ▾ → 탈퇴 — 계정 지우기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계정과 내가 올린 파일이 바로 지워집니다. 되돌릴 수 없으니 필요한 파일은 먼저 내려받으십시오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파일 목록 · 되돌리기</a:t>
            </a:r>
            <a:endParaRPr lang="en-US" sz="3000" dirty="0"/>
          </a:p>
        </p:txBody>
      </p:sp>
      <p:sp>
        <p:nvSpPr>
          <p:cNvPr id="3" name="frame-263"/>
          <p:cNvSpPr/>
          <p:nvPr/>
        </p:nvSpPr>
        <p:spPr>
          <a:xfrm>
            <a:off x="512064" y="1715532"/>
            <a:ext cx="6656832" cy="1506695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pic>
        <p:nvPicPr>
          <p:cNvPr id="4" name="screen-264" descr="crops/file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52108"/>
            <a:ext cx="6583680" cy="1433543"/>
          </a:xfrm>
          <a:prstGeom prst="rect">
            <a:avLst/>
          </a:prstGeom>
        </p:spPr>
      </p:pic>
      <p:sp>
        <p:nvSpPr>
          <p:cNvPr id="5" name="step-265"/>
          <p:cNvSpPr/>
          <p:nvPr/>
        </p:nvSpPr>
        <p:spPr>
          <a:xfrm>
            <a:off x="7498080" y="1325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stepn-266"/>
          <p:cNvSpPr txBox="1"/>
          <p:nvPr/>
        </p:nvSpPr>
        <p:spPr>
          <a:xfrm>
            <a:off x="749808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teptext-267"/>
          <p:cNvSpPr txBox="1"/>
          <p:nvPr/>
        </p:nvSpPr>
        <p:spPr>
          <a:xfrm>
            <a:off x="8046720" y="1271016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파일 ▾ → 파일 목록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올려 둔 파일을 한눈에 보고 골라서 지웁니다</a:t>
            </a:r>
            <a:endParaRPr lang="en-US" sz="1400" dirty="0"/>
          </a:p>
        </p:txBody>
      </p:sp>
      <p:sp>
        <p:nvSpPr>
          <p:cNvPr id="8" name="step-268"/>
          <p:cNvSpPr/>
          <p:nvPr/>
        </p:nvSpPr>
        <p:spPr>
          <a:xfrm>
            <a:off x="7498080" y="2468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epn-269"/>
          <p:cNvSpPr txBox="1"/>
          <p:nvPr/>
        </p:nvSpPr>
        <p:spPr>
          <a:xfrm>
            <a:off x="749808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steptext-270"/>
          <p:cNvSpPr txBox="1"/>
          <p:nvPr/>
        </p:nvSpPr>
        <p:spPr>
          <a:xfrm>
            <a:off x="8046720" y="2414016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같은 파일을 또 올리면 사본이 생깁니다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처음 한 번만 올리고 그다음부터는 목록에서 고르십시오</a:t>
            </a:r>
            <a:endParaRPr lang="en-US" sz="1400" dirty="0"/>
          </a:p>
        </p:txBody>
      </p:sp>
      <p:sp>
        <p:nvSpPr>
          <p:cNvPr id="11" name="step-271"/>
          <p:cNvSpPr/>
          <p:nvPr/>
        </p:nvSpPr>
        <p:spPr>
          <a:xfrm>
            <a:off x="7498080" y="3611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stepn-272"/>
          <p:cNvSpPr txBox="1"/>
          <p:nvPr/>
        </p:nvSpPr>
        <p:spPr>
          <a:xfrm>
            <a:off x="7498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steptext-273"/>
          <p:cNvSpPr txBox="1"/>
          <p:nvPr/>
        </p:nvSpPr>
        <p:spPr>
          <a:xfrm>
            <a:off x="8046720" y="3557016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되돌리기 · 다시 하기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Ctrl+Z / Ctrl+Shift+Z — 파일마다 따로 쌓입니다</a:t>
            </a:r>
            <a:endParaRPr lang="en-US" sz="1400" dirty="0"/>
          </a:p>
        </p:txBody>
      </p:sp>
      <p:sp>
        <p:nvSpPr>
          <p:cNvPr id="14" name="step-274"/>
          <p:cNvSpPr/>
          <p:nvPr/>
        </p:nvSpPr>
        <p:spPr>
          <a:xfrm>
            <a:off x="7498080" y="4754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stepn-275"/>
          <p:cNvSpPr txBox="1"/>
          <p:nvPr/>
        </p:nvSpPr>
        <p:spPr>
          <a:xfrm>
            <a:off x="749808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6" name="steptext-276"/>
          <p:cNvSpPr txBox="1"/>
          <p:nvPr/>
        </p:nvSpPr>
        <p:spPr>
          <a:xfrm>
            <a:off x="8046720" y="4700016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이력 · 되돌리기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서브모델을 고르고 오른쪽 위 「이력·되돌리기」에서 지난 판으로</a:t>
            </a:r>
            <a:endParaRPr lang="en-US" sz="1400" dirty="0"/>
          </a:p>
        </p:txBody>
      </p:sp>
      <p:sp>
        <p:nvSpPr>
          <p:cNvPr id="17" name="note-277"/>
          <p:cNvSpPr/>
          <p:nvPr/>
        </p:nvSpPr>
        <p:spPr>
          <a:xfrm>
            <a:off x="548640" y="4069080"/>
            <a:ext cx="6583680" cy="640080"/>
          </a:xfrm>
          <a:prstGeom prst="roundRect">
            <a:avLst>
              <a:gd name="adj" fmla="val 11429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8" name="notetext-278"/>
          <p:cNvSpPr txBox="1"/>
          <p:nvPr/>
        </p:nvSpPr>
        <p:spPr>
          <a:xfrm>
            <a:off x="731520" y="406908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지운 파일은 되돌릴 수 없습니다. 내려받아 둔 .aasx는 PC에 남습니다.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자주 묻는 것</a:t>
            </a:r>
            <a:endParaRPr lang="en-US" sz="3000" dirty="0"/>
          </a:p>
        </p:txBody>
      </p:sp>
      <p:graphicFrame>
        <p:nvGraphicFramePr>
          <p:cNvPr id="33" name="table-2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물음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단추에 자물쇠가 있어요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계정이라서입니다. 회원가입하면 받을 수 있습니다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계정으로 만든 파일이 사라졌어요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계정은 로그인마다 새 칸이고 60분 안 쓰면 지워집니다. 계속 쓰려면 가입하십시오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로그인이 안 돼요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틀리면 5분 쉽니다. 비밀번호를 잊었으면 관리자에게 초기화를 부탁하십시오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0건인데 제출처에서 떨어질 수 있나요?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있습니다. 최종 판정은 KOSMO Validator — 이 도구는 사전 점검입니다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이름 파일이 두 개가 됐어요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파일을 다시 올린 것입니다. 파일 목록에서 하나를 지우십시오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정보를 지우고 싶어요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 → 탈퇴. 계정과 올린 파일이 함께 지워집니다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F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-280"/>
          <p:cNvSpPr txBox="1"/>
          <p:nvPr/>
        </p:nvSpPr>
        <p:spPr>
          <a:xfrm>
            <a:off x="731520" y="1280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400" kern="0" dirty="0">
                <a:solidFill>
                  <a:schemeClr val="accent1"/>
                </a:solidFill>
              </a:rPr>
              <a:t>VEXPLOR</a:t>
            </a:r>
            <a:endParaRPr lang="en-US" sz="3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처음이라면 — 견본부터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429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체험 계정으로 둘러보기 → 회원가입 → 견본에서 가져오기로 내 설비 만들기 → 검사 · 자동 고치기 → 내려받기</a:t>
            </a:r>
            <a:endParaRPr lang="en-US" sz="2000" dirty="0"/>
          </a:p>
        </p:txBody>
      </p:sp>
      <p:sp>
        <p:nvSpPr>
          <p:cNvPr id="5" name="foot-281"/>
          <p:cNvSpPr txBox="1"/>
          <p:nvPr/>
        </p:nvSpPr>
        <p:spPr>
          <a:xfrm>
            <a:off x="73152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© 2026 WACE · VEXPLOR AAS Studio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XPLOR Manual">
  <a:themeElements>
    <a:clrScheme name="VEXPLOR Manual">
      <a:dk1>
        <a:srgbClr val="1F2937"/>
      </a:dk1>
      <a:lt1>
        <a:srgbClr val="FFFFFF"/>
      </a:lt1>
      <a:dk2>
        <a:srgbClr val="0F1B2D"/>
      </a:dk2>
      <a:lt2>
        <a:srgbClr val="EEF3FB"/>
      </a:lt2>
      <a:accent1>
        <a:srgbClr val="2F7CF6"/>
      </a:accent1>
      <a:accent2>
        <a:srgbClr val="22A06B"/>
      </a:accent2>
      <a:accent3>
        <a:srgbClr val="F59E0B"/>
      </a:accent3>
      <a:accent4>
        <a:srgbClr val="E5484D"/>
      </a:accent4>
      <a:accent5>
        <a:srgbClr val="6B7280"/>
      </a:accent5>
      <a:accent6>
        <a:srgbClr val="9CC2FF"/>
      </a:accent6>
      <a:hlink>
        <a:srgbClr val="2F7CF6"/>
      </a:hlink>
      <a:folHlink>
        <a:srgbClr val="6B7280"/>
      </a:folHlink>
    </a:clrScheme>
    <a:fontScheme name="VEXPLOR Manu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WACE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VEXPLOR AAS Studio 사용자 매뉴얼</dc:title>
  <dc:subject>PptxGenJS Presentation</dc:subject>
  <dc:creator>WACE</dc:creator>
  <cp:lastModifiedBy>WACE</cp:lastModifiedBy>
  <cp:revision>1</cp:revision>
  <dcterms:created xsi:type="dcterms:W3CDTF">2026-10-06T09:11:16Z</dcterms:created>
  <dcterms:modified xsi:type="dcterms:W3CDTF">2026-10-06T09:11:16Z</dcterms:modified>
</cp:coreProperties>
</file>